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8229600" cx="14630400"/>
  <p:notesSz cx="8229600" cy="14630400"/>
  <p:embeddedFontLst>
    <p:embeddedFont>
      <p:font typeface="Lora"/>
      <p:regular r:id="rId21"/>
      <p:bold r:id="rId22"/>
      <p:italic r:id="rId23"/>
      <p:boldItalic r:id="rId24"/>
    </p:embeddedFont>
    <p:embeddedFont>
      <p:font typeface="Source Sans 3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Lora-bold.fntdata"/><Relationship Id="rId21" Type="http://schemas.openxmlformats.org/officeDocument/2006/relationships/font" Target="fonts/Lora-regular.fntdata"/><Relationship Id="rId24" Type="http://schemas.openxmlformats.org/officeDocument/2006/relationships/font" Target="fonts/Lora-boldItalic.fntdata"/><Relationship Id="rId23" Type="http://schemas.openxmlformats.org/officeDocument/2006/relationships/font" Target="fonts/Lora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SourceSans3-bold.fntdata"/><Relationship Id="rId25" Type="http://schemas.openxmlformats.org/officeDocument/2006/relationships/font" Target="fonts/SourceSans3-regular.fntdata"/><Relationship Id="rId28" Type="http://schemas.openxmlformats.org/officeDocument/2006/relationships/font" Target="fonts/SourceSans3-boldItalic.fntdata"/><Relationship Id="rId27" Type="http://schemas.openxmlformats.org/officeDocument/2006/relationships/font" Target="fonts/SourceSans3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" name="Google Shape;61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Relationship Id="rId4" Type="http://schemas.openxmlformats.org/officeDocument/2006/relationships/image" Target="../media/image23.png"/><Relationship Id="rId5" Type="http://schemas.openxmlformats.org/officeDocument/2006/relationships/image" Target="../media/image27.png"/><Relationship Id="rId6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0" name="Google Shape;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9"/>
          <p:cNvSpPr/>
          <p:nvPr/>
        </p:nvSpPr>
        <p:spPr>
          <a:xfrm>
            <a:off x="6324124" y="2387560"/>
            <a:ext cx="7468553" cy="140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4400"/>
              <a:buFont typeface="Lora"/>
              <a:buNone/>
            </a:pPr>
            <a:r>
              <a:rPr b="0" i="0" lang="en-US" sz="440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NEET 2025: Coimbatore District Analysis</a:t>
            </a:r>
            <a:endParaRPr b="0" i="0" sz="4400" u="none" cap="none" strike="noStrike"/>
          </a:p>
        </p:txBody>
      </p:sp>
      <p:sp>
        <p:nvSpPr>
          <p:cNvPr id="82" name="Google Shape;82;p19"/>
          <p:cNvSpPr/>
          <p:nvPr/>
        </p:nvSpPr>
        <p:spPr>
          <a:xfrm>
            <a:off x="6324124" y="4154567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National Testing Agency performance dashboard</a:t>
            </a:r>
            <a:endParaRPr b="0" i="0" sz="1850" u="none" cap="none" strike="noStrike"/>
          </a:p>
        </p:txBody>
      </p:sp>
      <p:sp>
        <p:nvSpPr>
          <p:cNvPr id="83" name="Google Shape;83;p19"/>
          <p:cNvSpPr/>
          <p:nvPr/>
        </p:nvSpPr>
        <p:spPr>
          <a:xfrm>
            <a:off x="6324124" y="4806791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                                                                                                            </a:t>
            </a:r>
            <a:endParaRPr b="0" i="0" sz="1850" u="none" cap="none" strike="noStrike"/>
          </a:p>
        </p:txBody>
      </p:sp>
      <p:sp>
        <p:nvSpPr>
          <p:cNvPr id="84" name="Google Shape;84;p19"/>
          <p:cNvSpPr/>
          <p:nvPr/>
        </p:nvSpPr>
        <p:spPr>
          <a:xfrm>
            <a:off x="6324124" y="5459016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                                                                                                     R. Mohanapriya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/>
          <p:nvPr/>
        </p:nvSpPr>
        <p:spPr>
          <a:xfrm>
            <a:off x="837724" y="2398276"/>
            <a:ext cx="5632490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4400"/>
              <a:buFont typeface="Lora"/>
              <a:buNone/>
            </a:pPr>
            <a:r>
              <a:rPr b="0" i="0" lang="en-US" sz="440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Problem Context</a:t>
            </a:r>
            <a:endParaRPr b="0" i="0" sz="4400" u="none" cap="none" strike="noStrike"/>
          </a:p>
        </p:txBody>
      </p:sp>
      <p:sp>
        <p:nvSpPr>
          <p:cNvPr id="91" name="Google Shape;91;p20"/>
          <p:cNvSpPr/>
          <p:nvPr/>
        </p:nvSpPr>
        <p:spPr>
          <a:xfrm>
            <a:off x="837724" y="3341608"/>
            <a:ext cx="6185535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NEET exam is a highly competitive medical entrance exam where student performance determines eligibility for </a:t>
            </a:r>
            <a:r>
              <a:rPr b="1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government and private medical colleges.</a:t>
            </a:r>
            <a:endParaRPr b="0" i="0" sz="1850" u="none" cap="none" strike="noStrike"/>
          </a:p>
        </p:txBody>
      </p:sp>
      <p:sp>
        <p:nvSpPr>
          <p:cNvPr id="92" name="Google Shape;92;p20"/>
          <p:cNvSpPr/>
          <p:nvPr/>
        </p:nvSpPr>
        <p:spPr>
          <a:xfrm>
            <a:off x="837724" y="4706064"/>
            <a:ext cx="6185535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Educational institutions and coaching canters need to drive the </a:t>
            </a:r>
            <a:r>
              <a:rPr b="1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students  performance patterns, subject strengths, eligibility distribution, and career preferences.</a:t>
            </a:r>
            <a:endParaRPr b="0" i="0" sz="1850" u="none" cap="none" strike="noStrike"/>
          </a:p>
        </p:txBody>
      </p:sp>
      <p:pic>
        <p:nvPicPr>
          <p:cNvPr descr="preencoded.png" id="93" name="Google Shape;9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4761" y="1023223"/>
            <a:ext cx="6183154" cy="6183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/>
          <p:nvPr/>
        </p:nvSpPr>
        <p:spPr>
          <a:xfrm>
            <a:off x="837724" y="1256348"/>
            <a:ext cx="6185535" cy="140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4400"/>
              <a:buFont typeface="Lora"/>
              <a:buNone/>
            </a:pPr>
            <a:r>
              <a:rPr b="0" i="0" lang="en-US" sz="440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Key Findings- Performance Status</a:t>
            </a:r>
            <a:endParaRPr b="0" i="0" sz="4400" u="none" cap="none" strike="noStrike"/>
          </a:p>
        </p:txBody>
      </p:sp>
      <p:sp>
        <p:nvSpPr>
          <p:cNvPr id="100" name="Google Shape;100;p21"/>
          <p:cNvSpPr/>
          <p:nvPr/>
        </p:nvSpPr>
        <p:spPr>
          <a:xfrm>
            <a:off x="837724" y="2903696"/>
            <a:ext cx="6185535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1) Biology is the highest-scoring subject among students, contributing significantly to total NEET marks.</a:t>
            </a:r>
            <a:endParaRPr b="0" i="0" sz="1850" u="none" cap="none" strike="noStrike"/>
          </a:p>
        </p:txBody>
      </p:sp>
      <p:sp>
        <p:nvSpPr>
          <p:cNvPr id="101" name="Google Shape;101;p21"/>
          <p:cNvSpPr/>
          <p:nvPr/>
        </p:nvSpPr>
        <p:spPr>
          <a:xfrm>
            <a:off x="837724" y="3885128"/>
            <a:ext cx="6185535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2) Physics shows comparatively lower average marks, indicating it is most challenging subject for students.</a:t>
            </a:r>
            <a:endParaRPr b="0" i="0" sz="1850" u="none" cap="none" strike="noStrike"/>
          </a:p>
        </p:txBody>
      </p:sp>
      <p:sp>
        <p:nvSpPr>
          <p:cNvPr id="102" name="Google Shape;102;p21"/>
          <p:cNvSpPr/>
          <p:nvPr/>
        </p:nvSpPr>
        <p:spPr>
          <a:xfrm>
            <a:off x="837724" y="4866561"/>
            <a:ext cx="6185535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3) A majority of the students fall within the 500-600 mark range, placing them near private college eligibility.</a:t>
            </a:r>
            <a:endParaRPr b="0" i="0" sz="1850" u="none" cap="none" strike="noStrike"/>
          </a:p>
        </p:txBody>
      </p:sp>
      <p:sp>
        <p:nvSpPr>
          <p:cNvPr id="103" name="Google Shape;103;p21"/>
          <p:cNvSpPr/>
          <p:nvPr/>
        </p:nvSpPr>
        <p:spPr>
          <a:xfrm>
            <a:off x="837724" y="5847993"/>
            <a:ext cx="6185535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4) A small percentage of the students cross 600+ marks, which typically required for the government medical college admission.</a:t>
            </a:r>
            <a:endParaRPr b="0" i="0" sz="1850" u="none" cap="none" strike="noStrike"/>
          </a:p>
        </p:txBody>
      </p:sp>
      <p:pic>
        <p:nvPicPr>
          <p:cNvPr descr="preencoded.png" id="104" name="Google Shape;1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4761" y="1023223"/>
            <a:ext cx="6183154" cy="6183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/>
          <p:nvPr/>
        </p:nvSpPr>
        <p:spPr>
          <a:xfrm>
            <a:off x="989171" y="1194197"/>
            <a:ext cx="6088380" cy="1145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3600"/>
              <a:buFont typeface="Lora"/>
              <a:buNone/>
            </a:pPr>
            <a:r>
              <a:rPr b="0" i="0" lang="en-US" sz="360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Key Findings- Career Preference</a:t>
            </a:r>
            <a:endParaRPr b="0" i="0" sz="3600" u="none" cap="none" strike="noStrike"/>
          </a:p>
        </p:txBody>
      </p:sp>
      <p:sp>
        <p:nvSpPr>
          <p:cNvPr id="111" name="Google Shape;111;p22"/>
          <p:cNvSpPr/>
          <p:nvPr/>
        </p:nvSpPr>
        <p:spPr>
          <a:xfrm>
            <a:off x="989171" y="2498527"/>
            <a:ext cx="6088380" cy="565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00"/>
              <a:buFont typeface="Source Sans 3"/>
              <a:buNone/>
            </a:pPr>
            <a:r>
              <a:rPr b="0" i="0" lang="en-US" sz="15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1) Most students aim for MBS admission in government colleges due to lower tuition fees and higher prestige.</a:t>
            </a:r>
            <a:endParaRPr b="0" i="0" sz="1500" u="none" cap="none" strike="noStrike"/>
          </a:p>
        </p:txBody>
      </p:sp>
      <p:sp>
        <p:nvSpPr>
          <p:cNvPr id="112" name="Google Shape;112;p22"/>
          <p:cNvSpPr/>
          <p:nvPr/>
        </p:nvSpPr>
        <p:spPr>
          <a:xfrm>
            <a:off x="989171" y="3206234"/>
            <a:ext cx="6088380" cy="565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00"/>
              <a:buFont typeface="Source Sans 3"/>
              <a:buNone/>
            </a:pPr>
            <a:r>
              <a:rPr b="0" i="0" lang="en-US" sz="15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2) A significant number of students scoring 500-600 marks are likely to pursue private medical colleges.</a:t>
            </a:r>
            <a:endParaRPr b="0" i="0" sz="1500" u="none" cap="none" strike="noStrike"/>
          </a:p>
        </p:txBody>
      </p:sp>
      <p:sp>
        <p:nvSpPr>
          <p:cNvPr id="113" name="Google Shape;113;p22"/>
          <p:cNvSpPr/>
          <p:nvPr/>
        </p:nvSpPr>
        <p:spPr>
          <a:xfrm>
            <a:off x="989171" y="3913942"/>
            <a:ext cx="6088380" cy="565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00"/>
              <a:buFont typeface="Source Sans 3"/>
              <a:buNone/>
            </a:pPr>
            <a:r>
              <a:rPr b="0" i="0" lang="en-US" sz="15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3) Students with lower scores may consider alternative healthcare careers such as:</a:t>
            </a:r>
            <a:endParaRPr b="0" i="0" sz="1500" u="none" cap="none" strike="noStrike"/>
          </a:p>
        </p:txBody>
      </p:sp>
      <p:sp>
        <p:nvSpPr>
          <p:cNvPr id="114" name="Google Shape;114;p22"/>
          <p:cNvSpPr/>
          <p:nvPr/>
        </p:nvSpPr>
        <p:spPr>
          <a:xfrm>
            <a:off x="989171" y="4621649"/>
            <a:ext cx="6088380" cy="1296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00"/>
              <a:buFont typeface="Source Sans 3"/>
              <a:buChar char="•"/>
            </a:pPr>
            <a:r>
              <a:rPr b="0" i="0" lang="en-US" sz="15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MBBS</a:t>
            </a:r>
            <a:endParaRPr b="0" i="0" sz="1500" u="none" cap="none" strike="noStrike"/>
          </a:p>
          <a:p>
            <a:pPr indent="-342900" lvl="0" marL="34290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00"/>
              <a:buFont typeface="Source Sans 3"/>
              <a:buChar char="•"/>
            </a:pPr>
            <a:r>
              <a:rPr b="0" i="0" lang="en-US" sz="15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 BDS (Dental)</a:t>
            </a:r>
            <a:endParaRPr b="0" i="0" sz="1500" u="none" cap="none" strike="noStrike"/>
          </a:p>
          <a:p>
            <a:pPr indent="-342900" lvl="0" marL="34290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00"/>
              <a:buFont typeface="Source Sans 3"/>
              <a:buChar char="•"/>
            </a:pPr>
            <a:r>
              <a:rPr b="0" i="0" lang="en-US" sz="15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BAMS (Homeopathy)</a:t>
            </a:r>
            <a:endParaRPr b="0" i="0" sz="1500" u="none" cap="none" strike="noStrike"/>
          </a:p>
          <a:p>
            <a:pPr indent="-342900" lvl="0" marL="34290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00"/>
              <a:buFont typeface="Source Sans 3"/>
              <a:buChar char="•"/>
            </a:pPr>
            <a:r>
              <a:rPr b="0" i="0" lang="en-US" sz="15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Allied health sciences.</a:t>
            </a:r>
            <a:endParaRPr b="0" i="0" sz="1500" u="none" cap="none" strike="noStrike"/>
          </a:p>
        </p:txBody>
      </p:sp>
      <p:sp>
        <p:nvSpPr>
          <p:cNvPr id="115" name="Google Shape;115;p22"/>
          <p:cNvSpPr/>
          <p:nvPr/>
        </p:nvSpPr>
        <p:spPr>
          <a:xfrm>
            <a:off x="989171" y="6060877"/>
            <a:ext cx="6088380" cy="565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00"/>
              <a:buFont typeface="Source Sans 3"/>
              <a:buNone/>
            </a:pPr>
            <a:r>
              <a:rPr b="0" i="0" lang="en-US" sz="15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4)High-performing students with top AIR ranks have higher chances of securing seats in reputed government medical institutions.         </a:t>
            </a:r>
            <a:endParaRPr b="0" i="0" sz="1500" u="none" cap="none" strike="noStrike"/>
          </a:p>
        </p:txBody>
      </p:sp>
      <p:sp>
        <p:nvSpPr>
          <p:cNvPr id="116" name="Google Shape;116;p22"/>
          <p:cNvSpPr/>
          <p:nvPr/>
        </p:nvSpPr>
        <p:spPr>
          <a:xfrm>
            <a:off x="989171" y="6768584"/>
            <a:ext cx="6088380" cy="282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None/>
            </a:pPr>
            <a:r>
              <a:t/>
            </a:r>
            <a:endParaRPr b="0" i="0" sz="1500" u="none" cap="none" strike="noStrike"/>
          </a:p>
        </p:txBody>
      </p:sp>
      <p:pic>
        <p:nvPicPr>
          <p:cNvPr descr="preencoded.png" id="117" name="Google Shape;11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0469" y="1598533"/>
            <a:ext cx="5032296" cy="5032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/>
          <p:nvPr/>
        </p:nvSpPr>
        <p:spPr>
          <a:xfrm>
            <a:off x="837724" y="2479834"/>
            <a:ext cx="5632490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4400"/>
              <a:buFont typeface="Lora"/>
              <a:buNone/>
            </a:pPr>
            <a:r>
              <a:rPr b="0" i="0" lang="en-US" sz="440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Key Highlights</a:t>
            </a:r>
            <a:endParaRPr b="0" i="0" sz="4400" u="none" cap="none" strike="noStrike"/>
          </a:p>
        </p:txBody>
      </p:sp>
      <p:sp>
        <p:nvSpPr>
          <p:cNvPr id="124" name="Google Shape;124;p23"/>
          <p:cNvSpPr/>
          <p:nvPr/>
        </p:nvSpPr>
        <p:spPr>
          <a:xfrm>
            <a:off x="837724" y="3782258"/>
            <a:ext cx="3014305" cy="789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6200"/>
              <a:buFont typeface="Lora"/>
              <a:buNone/>
            </a:pPr>
            <a:r>
              <a:rPr b="0" i="0" lang="en-US" sz="62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22.09L</a:t>
            </a:r>
            <a:endParaRPr b="0" i="0" sz="6200" u="none" cap="none" strike="noStrike"/>
          </a:p>
        </p:txBody>
      </p:sp>
      <p:sp>
        <p:nvSpPr>
          <p:cNvPr id="125" name="Google Shape;125;p23"/>
          <p:cNvSpPr/>
          <p:nvPr/>
        </p:nvSpPr>
        <p:spPr>
          <a:xfrm>
            <a:off x="936784" y="4871204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200"/>
              <a:buFont typeface="Lora"/>
              <a:buNone/>
            </a:pPr>
            <a:r>
              <a:rPr b="0" i="0" lang="en-US" sz="22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Students Appeared</a:t>
            </a:r>
            <a:endParaRPr b="0" i="0" sz="2200" u="none" cap="none" strike="noStrike"/>
          </a:p>
        </p:txBody>
      </p:sp>
      <p:sp>
        <p:nvSpPr>
          <p:cNvPr id="126" name="Google Shape;126;p23"/>
          <p:cNvSpPr/>
          <p:nvPr/>
        </p:nvSpPr>
        <p:spPr>
          <a:xfrm>
            <a:off x="837724" y="5366742"/>
            <a:ext cx="301430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National level participation</a:t>
            </a:r>
            <a:endParaRPr b="0" i="0" sz="1850" u="none" cap="none" strike="noStrike"/>
          </a:p>
        </p:txBody>
      </p:sp>
      <p:sp>
        <p:nvSpPr>
          <p:cNvPr id="127" name="Google Shape;127;p23"/>
          <p:cNvSpPr/>
          <p:nvPr/>
        </p:nvSpPr>
        <p:spPr>
          <a:xfrm>
            <a:off x="4151233" y="3782258"/>
            <a:ext cx="3014305" cy="789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6200"/>
              <a:buFont typeface="Lora"/>
              <a:buNone/>
            </a:pPr>
            <a:r>
              <a:rPr b="0" i="0" lang="en-US" sz="62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18,692</a:t>
            </a:r>
            <a:endParaRPr b="0" i="0" sz="6200" u="none" cap="none" strike="noStrike"/>
          </a:p>
        </p:txBody>
      </p:sp>
      <p:sp>
        <p:nvSpPr>
          <p:cNvPr id="128" name="Google Shape;128;p23"/>
          <p:cNvSpPr/>
          <p:nvPr/>
        </p:nvSpPr>
        <p:spPr>
          <a:xfrm>
            <a:off x="4250293" y="4871204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200"/>
              <a:buFont typeface="Lora"/>
              <a:buNone/>
            </a:pPr>
            <a:r>
              <a:rPr b="0" i="0" lang="en-US" sz="22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Coimbatore District</a:t>
            </a:r>
            <a:endParaRPr b="0" i="0" sz="2200" u="none" cap="none" strike="noStrike"/>
          </a:p>
        </p:txBody>
      </p:sp>
      <p:sp>
        <p:nvSpPr>
          <p:cNvPr id="129" name="Google Shape;129;p23"/>
          <p:cNvSpPr/>
          <p:nvPr/>
        </p:nvSpPr>
        <p:spPr>
          <a:xfrm>
            <a:off x="4151233" y="5366742"/>
            <a:ext cx="301430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Local examination centre</a:t>
            </a:r>
            <a:endParaRPr b="0" i="0" sz="1850" u="none" cap="none" strike="noStrike"/>
          </a:p>
        </p:txBody>
      </p:sp>
      <p:sp>
        <p:nvSpPr>
          <p:cNvPr id="130" name="Google Shape;130;p23"/>
          <p:cNvSpPr/>
          <p:nvPr/>
        </p:nvSpPr>
        <p:spPr>
          <a:xfrm>
            <a:off x="7464743" y="3782258"/>
            <a:ext cx="3014305" cy="789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6200"/>
              <a:buFont typeface="Lora"/>
              <a:buNone/>
            </a:pPr>
            <a:r>
              <a:rPr b="0" i="0" lang="en-US" sz="62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665</a:t>
            </a:r>
            <a:endParaRPr b="0" i="0" sz="6200" u="none" cap="none" strike="noStrike"/>
          </a:p>
        </p:txBody>
      </p:sp>
      <p:sp>
        <p:nvSpPr>
          <p:cNvPr id="131" name="Google Shape;131;p23"/>
          <p:cNvSpPr/>
          <p:nvPr/>
        </p:nvSpPr>
        <p:spPr>
          <a:xfrm>
            <a:off x="7563803" y="4871204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200"/>
              <a:buFont typeface="Lora"/>
              <a:buNone/>
            </a:pPr>
            <a:r>
              <a:rPr b="0" i="0" lang="en-US" sz="22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Top Score</a:t>
            </a:r>
            <a:endParaRPr b="0" i="0" sz="2200" u="none" cap="none" strike="noStrike"/>
          </a:p>
        </p:txBody>
      </p:sp>
      <p:sp>
        <p:nvSpPr>
          <p:cNvPr id="132" name="Google Shape;132;p23"/>
          <p:cNvSpPr/>
          <p:nvPr/>
        </p:nvSpPr>
        <p:spPr>
          <a:xfrm>
            <a:off x="7464743" y="5366742"/>
            <a:ext cx="301430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Out of 720 marks</a:t>
            </a:r>
            <a:endParaRPr b="0" i="0" sz="1850" u="none" cap="none" strike="noStrike"/>
          </a:p>
        </p:txBody>
      </p:sp>
      <p:sp>
        <p:nvSpPr>
          <p:cNvPr id="133" name="Google Shape;133;p23"/>
          <p:cNvSpPr/>
          <p:nvPr/>
        </p:nvSpPr>
        <p:spPr>
          <a:xfrm>
            <a:off x="10778252" y="3782258"/>
            <a:ext cx="3014424" cy="789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6200"/>
              <a:buFont typeface="Lora"/>
              <a:buNone/>
            </a:pPr>
            <a:r>
              <a:rPr b="0" i="0" lang="en-US" sz="62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27</a:t>
            </a:r>
            <a:endParaRPr b="0" i="0" sz="6200" u="none" cap="none" strike="noStrike"/>
          </a:p>
        </p:txBody>
      </p:sp>
      <p:sp>
        <p:nvSpPr>
          <p:cNvPr id="134" name="Google Shape;134;p23"/>
          <p:cNvSpPr/>
          <p:nvPr/>
        </p:nvSpPr>
        <p:spPr>
          <a:xfrm>
            <a:off x="10877312" y="4871204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200"/>
              <a:buFont typeface="Lora"/>
              <a:buNone/>
            </a:pPr>
            <a:r>
              <a:rPr b="0" i="0" lang="en-US" sz="22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AIR Rank</a:t>
            </a:r>
            <a:endParaRPr b="0" i="0" sz="2200" u="none" cap="none" strike="noStrike"/>
          </a:p>
        </p:txBody>
      </p:sp>
      <p:sp>
        <p:nvSpPr>
          <p:cNvPr id="135" name="Google Shape;135;p23"/>
          <p:cNvSpPr/>
          <p:nvPr/>
        </p:nvSpPr>
        <p:spPr>
          <a:xfrm>
            <a:off x="10778252" y="5366742"/>
            <a:ext cx="3014424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All India Rank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/>
          <p:nvPr/>
        </p:nvSpPr>
        <p:spPr>
          <a:xfrm>
            <a:off x="780693" y="613410"/>
            <a:ext cx="5248632" cy="656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09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4100"/>
              <a:buFont typeface="Lora"/>
              <a:buNone/>
            </a:pPr>
            <a:r>
              <a:rPr b="0" i="0" lang="en-US" sz="410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District Champion</a:t>
            </a:r>
            <a:endParaRPr b="0" i="0" sz="4100" u="none" cap="none" strike="noStrike"/>
          </a:p>
        </p:txBody>
      </p:sp>
      <p:pic>
        <p:nvPicPr>
          <p:cNvPr descr="preencoded.png" id="142" name="Google Shape;14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93" y="1814989"/>
            <a:ext cx="4220408" cy="562713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4"/>
          <p:cNvSpPr/>
          <p:nvPr/>
        </p:nvSpPr>
        <p:spPr>
          <a:xfrm>
            <a:off x="5552837" y="3539490"/>
            <a:ext cx="3149084" cy="393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89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2450"/>
              <a:buFont typeface="Lora"/>
              <a:buNone/>
            </a:pPr>
            <a:r>
              <a:rPr b="0" i="0" lang="en-US" sz="245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Soorya Narayanan S</a:t>
            </a:r>
            <a:endParaRPr b="0" i="0" sz="2450" u="none" cap="none" strike="noStrike"/>
          </a:p>
        </p:txBody>
      </p:sp>
      <p:sp>
        <p:nvSpPr>
          <p:cNvPr id="144" name="Google Shape;144;p24"/>
          <p:cNvSpPr/>
          <p:nvPr/>
        </p:nvSpPr>
        <p:spPr>
          <a:xfrm>
            <a:off x="5552837" y="4140875"/>
            <a:ext cx="8304371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750"/>
              <a:buFont typeface="Source Sans 3"/>
              <a:buNone/>
            </a:pPr>
            <a:r>
              <a:rPr b="1" i="0" lang="en-US" sz="1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Tamil Nadu 1st Mark</a:t>
            </a:r>
            <a:endParaRPr b="0" i="0" sz="1750" u="none" cap="none" strike="noStrike"/>
          </a:p>
        </p:txBody>
      </p:sp>
      <p:sp>
        <p:nvSpPr>
          <p:cNvPr id="145" name="Google Shape;145;p24"/>
          <p:cNvSpPr/>
          <p:nvPr/>
        </p:nvSpPr>
        <p:spPr>
          <a:xfrm>
            <a:off x="5552837" y="4672727"/>
            <a:ext cx="8304371" cy="1179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750"/>
              <a:buFont typeface="Source Sans 3"/>
              <a:buChar char="•"/>
            </a:pPr>
            <a:r>
              <a:rPr b="0" i="0" lang="en-US" sz="1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Score: 665 out of 720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750"/>
              <a:buFont typeface="Source Sans 3"/>
              <a:buChar char="•"/>
            </a:pPr>
            <a:r>
              <a:rPr b="0" i="0" lang="en-US" sz="1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AIR: 27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750"/>
              <a:buFont typeface="Source Sans 3"/>
              <a:buChar char="•"/>
            </a:pPr>
            <a:r>
              <a:rPr b="0" i="0" lang="en-US" sz="17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Category: UR/EWS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/>
          <p:nvPr/>
        </p:nvSpPr>
        <p:spPr>
          <a:xfrm>
            <a:off x="837724" y="2844760"/>
            <a:ext cx="7407950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4400"/>
              <a:buFont typeface="Lora"/>
              <a:buNone/>
            </a:pPr>
            <a:r>
              <a:rPr b="0" i="0" lang="en-US" sz="440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Category-wise Cutoff Marks</a:t>
            </a:r>
            <a:endParaRPr b="0" i="0" sz="4400" u="none" cap="none" strike="noStrike"/>
          </a:p>
        </p:txBody>
      </p:sp>
      <p:sp>
        <p:nvSpPr>
          <p:cNvPr id="152" name="Google Shape;152;p25"/>
          <p:cNvSpPr/>
          <p:nvPr/>
        </p:nvSpPr>
        <p:spPr>
          <a:xfrm>
            <a:off x="837724" y="4027527"/>
            <a:ext cx="4158734" cy="1357193"/>
          </a:xfrm>
          <a:prstGeom prst="roundRect">
            <a:avLst>
              <a:gd fmla="val 2646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5"/>
          <p:cNvSpPr/>
          <p:nvPr/>
        </p:nvSpPr>
        <p:spPr>
          <a:xfrm>
            <a:off x="1077039" y="4266843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200"/>
              <a:buFont typeface="Lora"/>
              <a:buNone/>
            </a:pPr>
            <a:r>
              <a:rPr b="0" i="0" lang="en-US" sz="22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UR/EWS</a:t>
            </a:r>
            <a:endParaRPr b="0" i="0" sz="2200" u="none" cap="none" strike="noStrike"/>
          </a:p>
        </p:txBody>
      </p:sp>
      <p:sp>
        <p:nvSpPr>
          <p:cNvPr id="154" name="Google Shape;154;p25"/>
          <p:cNvSpPr/>
          <p:nvPr/>
        </p:nvSpPr>
        <p:spPr>
          <a:xfrm>
            <a:off x="1077039" y="4762381"/>
            <a:ext cx="368010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686 - 144</a:t>
            </a:r>
            <a:endParaRPr b="0" i="0" sz="1850" u="none" cap="none" strike="noStrike"/>
          </a:p>
        </p:txBody>
      </p:sp>
      <p:sp>
        <p:nvSpPr>
          <p:cNvPr id="155" name="Google Shape;155;p25"/>
          <p:cNvSpPr/>
          <p:nvPr/>
        </p:nvSpPr>
        <p:spPr>
          <a:xfrm>
            <a:off x="5235773" y="4027527"/>
            <a:ext cx="4158734" cy="1357193"/>
          </a:xfrm>
          <a:prstGeom prst="roundRect">
            <a:avLst>
              <a:gd fmla="val 2646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5"/>
          <p:cNvSpPr/>
          <p:nvPr/>
        </p:nvSpPr>
        <p:spPr>
          <a:xfrm>
            <a:off x="5475089" y="4266843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200"/>
              <a:buFont typeface="Lora"/>
              <a:buNone/>
            </a:pPr>
            <a:r>
              <a:rPr b="0" i="0" lang="en-US" sz="22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OBC/SC/ST</a:t>
            </a:r>
            <a:endParaRPr b="0" i="0" sz="2200" u="none" cap="none" strike="noStrike"/>
          </a:p>
        </p:txBody>
      </p:sp>
      <p:sp>
        <p:nvSpPr>
          <p:cNvPr id="157" name="Google Shape;157;p25"/>
          <p:cNvSpPr/>
          <p:nvPr/>
        </p:nvSpPr>
        <p:spPr>
          <a:xfrm>
            <a:off x="5475089" y="4762381"/>
            <a:ext cx="368010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143 - 113</a:t>
            </a:r>
            <a:endParaRPr b="0" i="0" sz="1850" u="none" cap="none" strike="noStrike"/>
          </a:p>
        </p:txBody>
      </p:sp>
      <p:sp>
        <p:nvSpPr>
          <p:cNvPr id="158" name="Google Shape;158;p25"/>
          <p:cNvSpPr/>
          <p:nvPr/>
        </p:nvSpPr>
        <p:spPr>
          <a:xfrm>
            <a:off x="9633823" y="4027527"/>
            <a:ext cx="4158853" cy="1357193"/>
          </a:xfrm>
          <a:prstGeom prst="roundRect">
            <a:avLst>
              <a:gd fmla="val 2646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5"/>
          <p:cNvSpPr/>
          <p:nvPr/>
        </p:nvSpPr>
        <p:spPr>
          <a:xfrm>
            <a:off x="9873139" y="4266843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200"/>
              <a:buFont typeface="Lora"/>
              <a:buNone/>
            </a:pPr>
            <a:r>
              <a:rPr b="0" i="0" lang="en-US" sz="22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UR/EWS/PWBD</a:t>
            </a:r>
            <a:endParaRPr b="0" i="0" sz="2200" u="none" cap="none" strike="noStrike"/>
          </a:p>
        </p:txBody>
      </p:sp>
      <p:sp>
        <p:nvSpPr>
          <p:cNvPr id="160" name="Google Shape;160;p25"/>
          <p:cNvSpPr/>
          <p:nvPr/>
        </p:nvSpPr>
        <p:spPr>
          <a:xfrm>
            <a:off x="9873139" y="4762381"/>
            <a:ext cx="3680222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143 - 127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/>
          <p:nvPr/>
        </p:nvSpPr>
        <p:spPr>
          <a:xfrm>
            <a:off x="837724" y="917853"/>
            <a:ext cx="8003738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4400"/>
              <a:buFont typeface="Lora"/>
              <a:buNone/>
            </a:pPr>
            <a:r>
              <a:rPr b="0" i="0" lang="en-US" sz="440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Government College Eligibility</a:t>
            </a:r>
            <a:endParaRPr b="0" i="0" sz="4400" u="none" cap="none" strike="noStrike"/>
          </a:p>
        </p:txBody>
      </p:sp>
      <p:sp>
        <p:nvSpPr>
          <p:cNvPr id="167" name="Google Shape;167;p26"/>
          <p:cNvSpPr/>
          <p:nvPr/>
        </p:nvSpPr>
        <p:spPr>
          <a:xfrm>
            <a:off x="1424940" y="3656528"/>
            <a:ext cx="2944297" cy="598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4700"/>
              <a:buFont typeface="Lora"/>
              <a:buNone/>
            </a:pPr>
            <a:r>
              <a:rPr b="0" i="0" lang="en-US" sz="47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380</a:t>
            </a:r>
            <a:endParaRPr b="0" i="0" sz="4700" u="none" cap="none" strike="noStrike"/>
          </a:p>
        </p:txBody>
      </p:sp>
      <p:pic>
        <p:nvPicPr>
          <p:cNvPr descr="preencoded.png" id="168" name="Google Shape;16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1804" y="2160389"/>
            <a:ext cx="3590687" cy="3590687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6"/>
          <p:cNvSpPr/>
          <p:nvPr/>
        </p:nvSpPr>
        <p:spPr>
          <a:xfrm>
            <a:off x="1488996" y="6050161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200"/>
              <a:buFont typeface="Lora"/>
              <a:buNone/>
            </a:pPr>
            <a:r>
              <a:rPr b="0" i="0" lang="en-US" sz="22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Eligible Students</a:t>
            </a:r>
            <a:endParaRPr b="0" i="0" sz="2200" u="none" cap="none" strike="noStrike"/>
          </a:p>
        </p:txBody>
      </p:sp>
      <p:sp>
        <p:nvSpPr>
          <p:cNvPr id="170" name="Google Shape;170;p26"/>
          <p:cNvSpPr/>
          <p:nvPr/>
        </p:nvSpPr>
        <p:spPr>
          <a:xfrm>
            <a:off x="837724" y="6545699"/>
            <a:ext cx="4118848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Qualified for government college admission</a:t>
            </a:r>
            <a:endParaRPr b="0" i="0" sz="1850" u="none" cap="none" strike="noStrike"/>
          </a:p>
        </p:txBody>
      </p:sp>
      <p:sp>
        <p:nvSpPr>
          <p:cNvPr id="171" name="Google Shape;171;p26"/>
          <p:cNvSpPr/>
          <p:nvPr/>
        </p:nvSpPr>
        <p:spPr>
          <a:xfrm>
            <a:off x="5842992" y="3656528"/>
            <a:ext cx="2944297" cy="598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4700"/>
              <a:buFont typeface="Lora"/>
              <a:buNone/>
            </a:pPr>
            <a:r>
              <a:rPr b="0" i="0" lang="en-US" sz="47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665.7</a:t>
            </a:r>
            <a:endParaRPr b="0" i="0" sz="4700" u="none" cap="none" strike="noStrike"/>
          </a:p>
        </p:txBody>
      </p:sp>
      <p:pic>
        <p:nvPicPr>
          <p:cNvPr descr="preencoded.png" id="172" name="Google Shape;17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9857" y="2160389"/>
            <a:ext cx="3590687" cy="3590687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6"/>
          <p:cNvSpPr/>
          <p:nvPr/>
        </p:nvSpPr>
        <p:spPr>
          <a:xfrm>
            <a:off x="5907048" y="6050161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200"/>
              <a:buFont typeface="Lora"/>
              <a:buNone/>
            </a:pPr>
            <a:r>
              <a:rPr b="0" i="0" lang="en-US" sz="22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Average Marks</a:t>
            </a:r>
            <a:endParaRPr b="0" i="0" sz="2200" u="none" cap="none" strike="noStrike"/>
          </a:p>
        </p:txBody>
      </p:sp>
      <p:sp>
        <p:nvSpPr>
          <p:cNvPr id="174" name="Google Shape;174;p26"/>
          <p:cNvSpPr/>
          <p:nvPr/>
        </p:nvSpPr>
        <p:spPr>
          <a:xfrm>
            <a:off x="5255776" y="6545699"/>
            <a:ext cx="411884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Among eligible candidates</a:t>
            </a:r>
            <a:endParaRPr b="0" i="0" sz="1850" u="none" cap="none" strike="noStrike"/>
          </a:p>
        </p:txBody>
      </p:sp>
      <p:sp>
        <p:nvSpPr>
          <p:cNvPr id="175" name="Google Shape;175;p26"/>
          <p:cNvSpPr/>
          <p:nvPr/>
        </p:nvSpPr>
        <p:spPr>
          <a:xfrm>
            <a:off x="10261044" y="3656528"/>
            <a:ext cx="2944297" cy="598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4700"/>
              <a:buFont typeface="Lora"/>
              <a:buNone/>
            </a:pPr>
            <a:r>
              <a:rPr b="0" i="0" lang="en-US" sz="47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680</a:t>
            </a:r>
            <a:endParaRPr b="0" i="0" sz="4700" u="none" cap="none" strike="noStrike"/>
          </a:p>
        </p:txBody>
      </p:sp>
      <p:pic>
        <p:nvPicPr>
          <p:cNvPr descr="preencoded.png" id="176" name="Google Shape;17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37909" y="2160389"/>
            <a:ext cx="3590687" cy="359068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6"/>
          <p:cNvSpPr/>
          <p:nvPr/>
        </p:nvSpPr>
        <p:spPr>
          <a:xfrm>
            <a:off x="10325100" y="6050161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200"/>
              <a:buFont typeface="Lora"/>
              <a:buNone/>
            </a:pPr>
            <a:r>
              <a:rPr b="0" i="0" lang="en-US" sz="22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Average AIR</a:t>
            </a:r>
            <a:endParaRPr b="0" i="0" sz="2200" u="none" cap="none" strike="noStrike"/>
          </a:p>
        </p:txBody>
      </p:sp>
      <p:sp>
        <p:nvSpPr>
          <p:cNvPr id="178" name="Google Shape;178;p26"/>
          <p:cNvSpPr/>
          <p:nvPr/>
        </p:nvSpPr>
        <p:spPr>
          <a:xfrm>
            <a:off x="9673828" y="6545699"/>
            <a:ext cx="411884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Rank of eligible students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/>
          <p:nvPr/>
        </p:nvSpPr>
        <p:spPr>
          <a:xfrm>
            <a:off x="2252067" y="667941"/>
            <a:ext cx="4261604" cy="458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2850"/>
              <a:buFont typeface="Lora"/>
              <a:buNone/>
            </a:pPr>
            <a:r>
              <a:rPr b="0" i="0" lang="en-US" sz="285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Private College Eligibility</a:t>
            </a:r>
            <a:endParaRPr b="0" i="0" sz="2850" u="none" cap="none" strike="noStrike"/>
          </a:p>
        </p:txBody>
      </p:sp>
      <p:sp>
        <p:nvSpPr>
          <p:cNvPr id="185" name="Google Shape;185;p27"/>
          <p:cNvSpPr/>
          <p:nvPr/>
        </p:nvSpPr>
        <p:spPr>
          <a:xfrm>
            <a:off x="2938343" y="2343150"/>
            <a:ext cx="1917859" cy="389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3050"/>
              <a:buFont typeface="Lora"/>
              <a:buNone/>
            </a:pPr>
            <a:r>
              <a:rPr b="0" i="0" lang="en-US" sz="30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128K</a:t>
            </a:r>
            <a:endParaRPr b="0" i="0" sz="3050" u="none" cap="none" strike="noStrike"/>
          </a:p>
        </p:txBody>
      </p:sp>
      <p:pic>
        <p:nvPicPr>
          <p:cNvPr descr="preencoded.png" id="186" name="Google Shape;18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7960" y="1368623"/>
            <a:ext cx="2338864" cy="233886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7"/>
          <p:cNvSpPr/>
          <p:nvPr/>
        </p:nvSpPr>
        <p:spPr>
          <a:xfrm>
            <a:off x="2980253" y="3847981"/>
            <a:ext cx="1834396" cy="2293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400"/>
              <a:buFont typeface="Lora"/>
              <a:buNone/>
            </a:pPr>
            <a:r>
              <a:rPr b="0" i="0" lang="en-US" sz="14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Eligible Students</a:t>
            </a:r>
            <a:endParaRPr b="0" i="0" sz="1400" u="none" cap="none" strike="noStrike"/>
          </a:p>
        </p:txBody>
      </p:sp>
      <p:sp>
        <p:nvSpPr>
          <p:cNvPr id="188" name="Google Shape;188;p27"/>
          <p:cNvSpPr/>
          <p:nvPr/>
        </p:nvSpPr>
        <p:spPr>
          <a:xfrm>
            <a:off x="2252067" y="4138136"/>
            <a:ext cx="3290768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200"/>
              <a:buFont typeface="Source Sans 3"/>
              <a:buNone/>
            </a:pPr>
            <a:r>
              <a:rPr b="0" i="0" lang="en-US" sz="12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Qualified for private college admission</a:t>
            </a:r>
            <a:endParaRPr b="0" i="0" sz="1200" u="none" cap="none" strike="noStrike"/>
          </a:p>
        </p:txBody>
      </p:sp>
      <p:sp>
        <p:nvSpPr>
          <p:cNvPr id="189" name="Google Shape;189;p27"/>
          <p:cNvSpPr/>
          <p:nvPr/>
        </p:nvSpPr>
        <p:spPr>
          <a:xfrm>
            <a:off x="6356032" y="2343150"/>
            <a:ext cx="1917859" cy="389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3050"/>
              <a:buFont typeface="Lora"/>
              <a:buNone/>
            </a:pPr>
            <a:r>
              <a:rPr b="0" i="0" lang="en-US" sz="30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336.3</a:t>
            </a:r>
            <a:endParaRPr b="0" i="0" sz="3050" u="none" cap="none" strike="noStrike"/>
          </a:p>
        </p:txBody>
      </p:sp>
      <p:pic>
        <p:nvPicPr>
          <p:cNvPr descr="preencoded.png" id="190" name="Google Shape;19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5649" y="1368623"/>
            <a:ext cx="2338864" cy="233886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7"/>
          <p:cNvSpPr/>
          <p:nvPr/>
        </p:nvSpPr>
        <p:spPr>
          <a:xfrm>
            <a:off x="6397943" y="3847981"/>
            <a:ext cx="1834396" cy="2293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400"/>
              <a:buFont typeface="Lora"/>
              <a:buNone/>
            </a:pPr>
            <a:r>
              <a:rPr b="0" i="0" lang="en-US" sz="14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Average AIR</a:t>
            </a:r>
            <a:endParaRPr b="0" i="0" sz="1400" u="none" cap="none" strike="noStrike"/>
          </a:p>
        </p:txBody>
      </p:sp>
      <p:sp>
        <p:nvSpPr>
          <p:cNvPr id="192" name="Google Shape;192;p27"/>
          <p:cNvSpPr/>
          <p:nvPr/>
        </p:nvSpPr>
        <p:spPr>
          <a:xfrm>
            <a:off x="5669756" y="4138136"/>
            <a:ext cx="3290768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200"/>
              <a:buFont typeface="Source Sans 3"/>
              <a:buNone/>
            </a:pPr>
            <a:r>
              <a:rPr b="0" i="0" lang="en-US" sz="12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Rank of eligible students</a:t>
            </a:r>
            <a:endParaRPr b="0" i="0" sz="1200" u="none" cap="none" strike="noStrike"/>
          </a:p>
        </p:txBody>
      </p:sp>
      <p:sp>
        <p:nvSpPr>
          <p:cNvPr id="193" name="Google Shape;193;p27"/>
          <p:cNvSpPr/>
          <p:nvPr/>
        </p:nvSpPr>
        <p:spPr>
          <a:xfrm>
            <a:off x="9773722" y="2343150"/>
            <a:ext cx="1917859" cy="389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3050"/>
              <a:buFont typeface="Lora"/>
              <a:buNone/>
            </a:pPr>
            <a:r>
              <a:rPr b="0" i="0" lang="en-US" sz="30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164.7</a:t>
            </a:r>
            <a:endParaRPr b="0" i="0" sz="3050" u="none" cap="none" strike="noStrike"/>
          </a:p>
        </p:txBody>
      </p:sp>
      <p:pic>
        <p:nvPicPr>
          <p:cNvPr descr="preencoded.png" id="194" name="Google Shape;19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63338" y="1368623"/>
            <a:ext cx="2338864" cy="2338864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7"/>
          <p:cNvSpPr/>
          <p:nvPr/>
        </p:nvSpPr>
        <p:spPr>
          <a:xfrm>
            <a:off x="9640729" y="3847981"/>
            <a:ext cx="2184202" cy="2293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400"/>
              <a:buFont typeface="Lora"/>
              <a:buNone/>
            </a:pPr>
            <a:r>
              <a:rPr b="0" i="0" lang="en-US" sz="14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Average Chemistry Marks</a:t>
            </a:r>
            <a:endParaRPr b="0" i="0" sz="1400" u="none" cap="none" strike="noStrike"/>
          </a:p>
        </p:txBody>
      </p:sp>
      <p:sp>
        <p:nvSpPr>
          <p:cNvPr id="196" name="Google Shape;196;p27"/>
          <p:cNvSpPr/>
          <p:nvPr/>
        </p:nvSpPr>
        <p:spPr>
          <a:xfrm>
            <a:off x="9087445" y="4138136"/>
            <a:ext cx="3290768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200"/>
              <a:buFont typeface="Source Sans 3"/>
              <a:buNone/>
            </a:pPr>
            <a:r>
              <a:rPr b="0" i="0" lang="en-US" sz="12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Among eligible candidates</a:t>
            </a:r>
            <a:endParaRPr b="0" i="0" sz="1200" u="none" cap="none" strike="noStrike"/>
          </a:p>
        </p:txBody>
      </p:sp>
      <p:sp>
        <p:nvSpPr>
          <p:cNvPr id="197" name="Google Shape;197;p27"/>
          <p:cNvSpPr/>
          <p:nvPr/>
        </p:nvSpPr>
        <p:spPr>
          <a:xfrm>
            <a:off x="4647128" y="5560695"/>
            <a:ext cx="1917859" cy="389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3050"/>
              <a:buFont typeface="Lora"/>
              <a:buNone/>
            </a:pPr>
            <a:r>
              <a:rPr b="0" i="0" lang="en-US" sz="30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164.6</a:t>
            </a:r>
            <a:endParaRPr b="0" i="0" sz="3050" u="none" cap="none" strike="noStrike"/>
          </a:p>
        </p:txBody>
      </p:sp>
      <p:pic>
        <p:nvPicPr>
          <p:cNvPr descr="preencoded.png" id="198" name="Google Shape;19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6745" y="4586168"/>
            <a:ext cx="2338864" cy="233886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7"/>
          <p:cNvSpPr/>
          <p:nvPr/>
        </p:nvSpPr>
        <p:spPr>
          <a:xfrm>
            <a:off x="4640937" y="7065526"/>
            <a:ext cx="1930479" cy="2293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400"/>
              <a:buFont typeface="Lora"/>
              <a:buNone/>
            </a:pPr>
            <a:r>
              <a:rPr b="0" i="0" lang="en-US" sz="14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Average Physics Marks</a:t>
            </a:r>
            <a:endParaRPr b="0" i="0" sz="1400" u="none" cap="none" strike="noStrike"/>
          </a:p>
        </p:txBody>
      </p:sp>
      <p:sp>
        <p:nvSpPr>
          <p:cNvPr id="200" name="Google Shape;200;p27"/>
          <p:cNvSpPr/>
          <p:nvPr/>
        </p:nvSpPr>
        <p:spPr>
          <a:xfrm>
            <a:off x="3960852" y="7355681"/>
            <a:ext cx="3290768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200"/>
              <a:buFont typeface="Source Sans 3"/>
              <a:buNone/>
            </a:pPr>
            <a:r>
              <a:rPr b="0" i="0" lang="en-US" sz="12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Among eligible candidates</a:t>
            </a:r>
            <a:endParaRPr b="0" i="0" sz="1200" u="none" cap="none" strike="noStrike"/>
          </a:p>
        </p:txBody>
      </p:sp>
      <p:sp>
        <p:nvSpPr>
          <p:cNvPr id="201" name="Google Shape;201;p27"/>
          <p:cNvSpPr/>
          <p:nvPr/>
        </p:nvSpPr>
        <p:spPr>
          <a:xfrm>
            <a:off x="8064818" y="5560695"/>
            <a:ext cx="1917859" cy="389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3050"/>
              <a:buFont typeface="Lora"/>
              <a:buNone/>
            </a:pPr>
            <a:r>
              <a:rPr b="0" i="0" lang="en-US" sz="30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336.3</a:t>
            </a:r>
            <a:endParaRPr b="0" i="0" sz="3050" u="none" cap="none" strike="noStrike"/>
          </a:p>
        </p:txBody>
      </p:sp>
      <p:pic>
        <p:nvPicPr>
          <p:cNvPr descr="preencoded.png" id="202" name="Google Shape;20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4434" y="4586168"/>
            <a:ext cx="2338864" cy="2338864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7"/>
          <p:cNvSpPr/>
          <p:nvPr/>
        </p:nvSpPr>
        <p:spPr>
          <a:xfrm>
            <a:off x="8060650" y="7065526"/>
            <a:ext cx="1926550" cy="2293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400"/>
              <a:buFont typeface="Lora"/>
              <a:buNone/>
            </a:pPr>
            <a:r>
              <a:rPr b="0" i="0" lang="en-US" sz="14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Average Biology Marks</a:t>
            </a:r>
            <a:endParaRPr b="0" i="0" sz="1400" u="none" cap="none" strike="noStrike"/>
          </a:p>
        </p:txBody>
      </p:sp>
      <p:sp>
        <p:nvSpPr>
          <p:cNvPr id="204" name="Google Shape;204;p27"/>
          <p:cNvSpPr/>
          <p:nvPr/>
        </p:nvSpPr>
        <p:spPr>
          <a:xfrm>
            <a:off x="7378541" y="7355681"/>
            <a:ext cx="3290768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200"/>
              <a:buFont typeface="Source Sans 3"/>
              <a:buNone/>
            </a:pPr>
            <a:r>
              <a:rPr b="0" i="0" lang="en-US" sz="120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Among eligible candidates</a:t>
            </a:r>
            <a:endParaRPr b="0" i="0" sz="120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/>
          <p:nvPr/>
        </p:nvSpPr>
        <p:spPr>
          <a:xfrm>
            <a:off x="837724" y="1116687"/>
            <a:ext cx="7993618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4400"/>
              <a:buFont typeface="Lora"/>
              <a:buNone/>
            </a:pPr>
            <a:r>
              <a:rPr b="0" i="0" lang="en-US" sz="440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Top Performers in Coimbatore</a:t>
            </a:r>
            <a:endParaRPr b="0" i="0" sz="4400" u="none" cap="none" strike="noStrike"/>
          </a:p>
        </p:txBody>
      </p:sp>
      <p:sp>
        <p:nvSpPr>
          <p:cNvPr id="211" name="Google Shape;211;p28"/>
          <p:cNvSpPr/>
          <p:nvPr/>
        </p:nvSpPr>
        <p:spPr>
          <a:xfrm>
            <a:off x="837724" y="2299454"/>
            <a:ext cx="12954952" cy="4813340"/>
          </a:xfrm>
          <a:prstGeom prst="roundRect">
            <a:avLst>
              <a:gd fmla="val 746" name="adj"/>
            </a:avLst>
          </a:prstGeom>
          <a:noFill/>
          <a:ln cap="flat" cmpd="sng" w="9525">
            <a:solidFill>
              <a:srgbClr val="FFFFFF">
                <a:alpha val="2392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8"/>
          <p:cNvSpPr/>
          <p:nvPr/>
        </p:nvSpPr>
        <p:spPr>
          <a:xfrm>
            <a:off x="845344" y="2307074"/>
            <a:ext cx="12939713" cy="685443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8"/>
          <p:cNvSpPr/>
          <p:nvPr/>
        </p:nvSpPr>
        <p:spPr>
          <a:xfrm>
            <a:off x="1085017" y="2458283"/>
            <a:ext cx="365819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1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Student Name</a:t>
            </a:r>
            <a:endParaRPr b="0" i="0" sz="1850" u="none" cap="none" strike="noStrike"/>
          </a:p>
        </p:txBody>
      </p:sp>
      <p:sp>
        <p:nvSpPr>
          <p:cNvPr id="214" name="Google Shape;214;p28"/>
          <p:cNvSpPr/>
          <p:nvPr/>
        </p:nvSpPr>
        <p:spPr>
          <a:xfrm>
            <a:off x="5229463" y="2458283"/>
            <a:ext cx="171342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1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Physics</a:t>
            </a:r>
            <a:endParaRPr b="0" i="0" sz="1850" u="none" cap="none" strike="noStrike"/>
          </a:p>
        </p:txBody>
      </p:sp>
      <p:sp>
        <p:nvSpPr>
          <p:cNvPr id="215" name="Google Shape;215;p28"/>
          <p:cNvSpPr/>
          <p:nvPr/>
        </p:nvSpPr>
        <p:spPr>
          <a:xfrm>
            <a:off x="7429143" y="2458283"/>
            <a:ext cx="171342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1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Chemistry</a:t>
            </a:r>
            <a:endParaRPr b="0" i="0" sz="1850" u="none" cap="none" strike="noStrike"/>
          </a:p>
        </p:txBody>
      </p:sp>
      <p:sp>
        <p:nvSpPr>
          <p:cNvPr id="216" name="Google Shape;216;p28"/>
          <p:cNvSpPr/>
          <p:nvPr/>
        </p:nvSpPr>
        <p:spPr>
          <a:xfrm>
            <a:off x="9628823" y="2458283"/>
            <a:ext cx="171342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1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Biology</a:t>
            </a:r>
            <a:endParaRPr b="0" i="0" sz="1850" u="none" cap="none" strike="noStrike"/>
          </a:p>
        </p:txBody>
      </p:sp>
      <p:sp>
        <p:nvSpPr>
          <p:cNvPr id="217" name="Google Shape;217;p28"/>
          <p:cNvSpPr/>
          <p:nvPr/>
        </p:nvSpPr>
        <p:spPr>
          <a:xfrm>
            <a:off x="11828502" y="2458283"/>
            <a:ext cx="171723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1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Total</a:t>
            </a:r>
            <a:endParaRPr b="0" i="0" sz="1850" u="none" cap="none" strike="noStrike"/>
          </a:p>
        </p:txBody>
      </p:sp>
      <p:sp>
        <p:nvSpPr>
          <p:cNvPr id="218" name="Google Shape;218;p28"/>
          <p:cNvSpPr/>
          <p:nvPr/>
        </p:nvSpPr>
        <p:spPr>
          <a:xfrm>
            <a:off x="845344" y="2992517"/>
            <a:ext cx="12939713" cy="685443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8"/>
          <p:cNvSpPr/>
          <p:nvPr/>
        </p:nvSpPr>
        <p:spPr>
          <a:xfrm>
            <a:off x="1085017" y="3143726"/>
            <a:ext cx="365819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YASMIN M</a:t>
            </a:r>
            <a:endParaRPr b="0" i="0" sz="1850" u="none" cap="none" strike="noStrike"/>
          </a:p>
        </p:txBody>
      </p:sp>
      <p:sp>
        <p:nvSpPr>
          <p:cNvPr id="220" name="Google Shape;220;p28"/>
          <p:cNvSpPr/>
          <p:nvPr/>
        </p:nvSpPr>
        <p:spPr>
          <a:xfrm>
            <a:off x="5229463" y="3143726"/>
            <a:ext cx="171342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177</a:t>
            </a:r>
            <a:endParaRPr b="0" i="0" sz="1850" u="none" cap="none" strike="noStrike"/>
          </a:p>
        </p:txBody>
      </p:sp>
      <p:sp>
        <p:nvSpPr>
          <p:cNvPr id="221" name="Google Shape;221;p28"/>
          <p:cNvSpPr/>
          <p:nvPr/>
        </p:nvSpPr>
        <p:spPr>
          <a:xfrm>
            <a:off x="7429143" y="3143726"/>
            <a:ext cx="171342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174</a:t>
            </a:r>
            <a:endParaRPr b="0" i="0" sz="1850" u="none" cap="none" strike="noStrike"/>
          </a:p>
        </p:txBody>
      </p:sp>
      <p:sp>
        <p:nvSpPr>
          <p:cNvPr id="222" name="Google Shape;222;p28"/>
          <p:cNvSpPr/>
          <p:nvPr/>
        </p:nvSpPr>
        <p:spPr>
          <a:xfrm>
            <a:off x="9628823" y="3143726"/>
            <a:ext cx="171342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332</a:t>
            </a:r>
            <a:endParaRPr b="0" i="0" sz="1850" u="none" cap="none" strike="noStrike"/>
          </a:p>
        </p:txBody>
      </p:sp>
      <p:sp>
        <p:nvSpPr>
          <p:cNvPr id="223" name="Google Shape;223;p28"/>
          <p:cNvSpPr/>
          <p:nvPr/>
        </p:nvSpPr>
        <p:spPr>
          <a:xfrm>
            <a:off x="11828502" y="3143726"/>
            <a:ext cx="171723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661</a:t>
            </a:r>
            <a:endParaRPr b="0" i="0" sz="1850" u="none" cap="none" strike="noStrike"/>
          </a:p>
        </p:txBody>
      </p:sp>
      <p:sp>
        <p:nvSpPr>
          <p:cNvPr id="224" name="Google Shape;224;p28"/>
          <p:cNvSpPr/>
          <p:nvPr/>
        </p:nvSpPr>
        <p:spPr>
          <a:xfrm>
            <a:off x="845344" y="3677960"/>
            <a:ext cx="12939713" cy="685443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8"/>
          <p:cNvSpPr/>
          <p:nvPr/>
        </p:nvSpPr>
        <p:spPr>
          <a:xfrm>
            <a:off x="1085017" y="3829169"/>
            <a:ext cx="365819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Y SIVAANI</a:t>
            </a:r>
            <a:endParaRPr b="0" i="0" sz="1850" u="none" cap="none" strike="noStrike"/>
          </a:p>
        </p:txBody>
      </p:sp>
      <p:sp>
        <p:nvSpPr>
          <p:cNvPr id="226" name="Google Shape;226;p28"/>
          <p:cNvSpPr/>
          <p:nvPr/>
        </p:nvSpPr>
        <p:spPr>
          <a:xfrm>
            <a:off x="5229463" y="3829169"/>
            <a:ext cx="171342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169</a:t>
            </a:r>
            <a:endParaRPr b="0" i="0" sz="1850" u="none" cap="none" strike="noStrike"/>
          </a:p>
        </p:txBody>
      </p:sp>
      <p:sp>
        <p:nvSpPr>
          <p:cNvPr id="227" name="Google Shape;227;p28"/>
          <p:cNvSpPr/>
          <p:nvPr/>
        </p:nvSpPr>
        <p:spPr>
          <a:xfrm>
            <a:off x="7429143" y="3829169"/>
            <a:ext cx="171342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151</a:t>
            </a:r>
            <a:endParaRPr b="0" i="0" sz="1850" u="none" cap="none" strike="noStrike"/>
          </a:p>
        </p:txBody>
      </p:sp>
      <p:sp>
        <p:nvSpPr>
          <p:cNvPr id="228" name="Google Shape;228;p28"/>
          <p:cNvSpPr/>
          <p:nvPr/>
        </p:nvSpPr>
        <p:spPr>
          <a:xfrm>
            <a:off x="9628823" y="3829169"/>
            <a:ext cx="171342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348</a:t>
            </a:r>
            <a:endParaRPr b="0" i="0" sz="1850" u="none" cap="none" strike="noStrike"/>
          </a:p>
        </p:txBody>
      </p:sp>
      <p:sp>
        <p:nvSpPr>
          <p:cNvPr id="229" name="Google Shape;229;p28"/>
          <p:cNvSpPr/>
          <p:nvPr/>
        </p:nvSpPr>
        <p:spPr>
          <a:xfrm>
            <a:off x="11828502" y="3829169"/>
            <a:ext cx="171723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660</a:t>
            </a:r>
            <a:endParaRPr b="0" i="0" sz="1850" u="none" cap="none" strike="noStrike"/>
          </a:p>
        </p:txBody>
      </p:sp>
      <p:sp>
        <p:nvSpPr>
          <p:cNvPr id="230" name="Google Shape;230;p28"/>
          <p:cNvSpPr/>
          <p:nvPr/>
        </p:nvSpPr>
        <p:spPr>
          <a:xfrm>
            <a:off x="845344" y="4363403"/>
            <a:ext cx="12939713" cy="685443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8"/>
          <p:cNvSpPr/>
          <p:nvPr/>
        </p:nvSpPr>
        <p:spPr>
          <a:xfrm>
            <a:off x="1085017" y="4514612"/>
            <a:ext cx="365819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VIVEK KRISHNAA S</a:t>
            </a:r>
            <a:endParaRPr b="0" i="0" sz="1850" u="none" cap="none" strike="noStrike"/>
          </a:p>
        </p:txBody>
      </p:sp>
      <p:sp>
        <p:nvSpPr>
          <p:cNvPr id="232" name="Google Shape;232;p28"/>
          <p:cNvSpPr/>
          <p:nvPr/>
        </p:nvSpPr>
        <p:spPr>
          <a:xfrm>
            <a:off x="5229463" y="4514612"/>
            <a:ext cx="171342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175</a:t>
            </a:r>
            <a:endParaRPr b="0" i="0" sz="1850" u="none" cap="none" strike="noStrike"/>
          </a:p>
        </p:txBody>
      </p:sp>
      <p:sp>
        <p:nvSpPr>
          <p:cNvPr id="233" name="Google Shape;233;p28"/>
          <p:cNvSpPr/>
          <p:nvPr/>
        </p:nvSpPr>
        <p:spPr>
          <a:xfrm>
            <a:off x="7429143" y="4514612"/>
            <a:ext cx="171342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152</a:t>
            </a:r>
            <a:endParaRPr b="0" i="0" sz="1850" u="none" cap="none" strike="noStrike"/>
          </a:p>
        </p:txBody>
      </p:sp>
      <p:sp>
        <p:nvSpPr>
          <p:cNvPr id="234" name="Google Shape;234;p28"/>
          <p:cNvSpPr/>
          <p:nvPr/>
        </p:nvSpPr>
        <p:spPr>
          <a:xfrm>
            <a:off x="9628823" y="4514612"/>
            <a:ext cx="171342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338</a:t>
            </a:r>
            <a:endParaRPr b="0" i="0" sz="1850" u="none" cap="none" strike="noStrike"/>
          </a:p>
        </p:txBody>
      </p:sp>
      <p:sp>
        <p:nvSpPr>
          <p:cNvPr id="235" name="Google Shape;235;p28"/>
          <p:cNvSpPr/>
          <p:nvPr/>
        </p:nvSpPr>
        <p:spPr>
          <a:xfrm>
            <a:off x="11828502" y="4514612"/>
            <a:ext cx="171723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658</a:t>
            </a:r>
            <a:endParaRPr b="0" i="0" sz="1850" u="none" cap="none" strike="noStrike"/>
          </a:p>
        </p:txBody>
      </p:sp>
      <p:sp>
        <p:nvSpPr>
          <p:cNvPr id="236" name="Google Shape;236;p28"/>
          <p:cNvSpPr/>
          <p:nvPr/>
        </p:nvSpPr>
        <p:spPr>
          <a:xfrm>
            <a:off x="845344" y="5048845"/>
            <a:ext cx="12939713" cy="685443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8"/>
          <p:cNvSpPr/>
          <p:nvPr/>
        </p:nvSpPr>
        <p:spPr>
          <a:xfrm>
            <a:off x="1085017" y="5200055"/>
            <a:ext cx="365819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VISHVADHAR SHINI J</a:t>
            </a:r>
            <a:endParaRPr b="0" i="0" sz="1850" u="none" cap="none" strike="noStrike"/>
          </a:p>
        </p:txBody>
      </p:sp>
      <p:sp>
        <p:nvSpPr>
          <p:cNvPr id="238" name="Google Shape;238;p28"/>
          <p:cNvSpPr/>
          <p:nvPr/>
        </p:nvSpPr>
        <p:spPr>
          <a:xfrm>
            <a:off x="5229463" y="5200055"/>
            <a:ext cx="171342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180</a:t>
            </a:r>
            <a:endParaRPr b="0" i="0" sz="1850" u="none" cap="none" strike="noStrike"/>
          </a:p>
        </p:txBody>
      </p:sp>
      <p:sp>
        <p:nvSpPr>
          <p:cNvPr id="239" name="Google Shape;239;p28"/>
          <p:cNvSpPr/>
          <p:nvPr/>
        </p:nvSpPr>
        <p:spPr>
          <a:xfrm>
            <a:off x="7429143" y="5200055"/>
            <a:ext cx="171342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157</a:t>
            </a:r>
            <a:endParaRPr b="0" i="0" sz="1850" u="none" cap="none" strike="noStrike"/>
          </a:p>
        </p:txBody>
      </p:sp>
      <p:sp>
        <p:nvSpPr>
          <p:cNvPr id="240" name="Google Shape;240;p28"/>
          <p:cNvSpPr/>
          <p:nvPr/>
        </p:nvSpPr>
        <p:spPr>
          <a:xfrm>
            <a:off x="9628823" y="5200055"/>
            <a:ext cx="171342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344</a:t>
            </a:r>
            <a:endParaRPr b="0" i="0" sz="1850" u="none" cap="none" strike="noStrike"/>
          </a:p>
        </p:txBody>
      </p:sp>
      <p:sp>
        <p:nvSpPr>
          <p:cNvPr id="241" name="Google Shape;241;p28"/>
          <p:cNvSpPr/>
          <p:nvPr/>
        </p:nvSpPr>
        <p:spPr>
          <a:xfrm>
            <a:off x="11828502" y="5200055"/>
            <a:ext cx="171723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655</a:t>
            </a:r>
            <a:endParaRPr b="0" i="0" sz="1850" u="none" cap="none" strike="noStrike"/>
          </a:p>
        </p:txBody>
      </p:sp>
      <p:sp>
        <p:nvSpPr>
          <p:cNvPr id="242" name="Google Shape;242;p28"/>
          <p:cNvSpPr/>
          <p:nvPr/>
        </p:nvSpPr>
        <p:spPr>
          <a:xfrm>
            <a:off x="845344" y="5734288"/>
            <a:ext cx="12939713" cy="685443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8"/>
          <p:cNvSpPr/>
          <p:nvPr/>
        </p:nvSpPr>
        <p:spPr>
          <a:xfrm>
            <a:off x="1085017" y="5885498"/>
            <a:ext cx="365819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VISHAL V</a:t>
            </a:r>
            <a:endParaRPr b="0" i="0" sz="1850" u="none" cap="none" strike="noStrike"/>
          </a:p>
        </p:txBody>
      </p:sp>
      <p:sp>
        <p:nvSpPr>
          <p:cNvPr id="244" name="Google Shape;244;p28"/>
          <p:cNvSpPr/>
          <p:nvPr/>
        </p:nvSpPr>
        <p:spPr>
          <a:xfrm>
            <a:off x="5229463" y="5885498"/>
            <a:ext cx="171342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165</a:t>
            </a:r>
            <a:endParaRPr b="0" i="0" sz="1850" u="none" cap="none" strike="noStrike"/>
          </a:p>
        </p:txBody>
      </p:sp>
      <p:sp>
        <p:nvSpPr>
          <p:cNvPr id="245" name="Google Shape;245;p28"/>
          <p:cNvSpPr/>
          <p:nvPr/>
        </p:nvSpPr>
        <p:spPr>
          <a:xfrm>
            <a:off x="7429143" y="5885498"/>
            <a:ext cx="171342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180</a:t>
            </a:r>
            <a:endParaRPr b="0" i="0" sz="1850" u="none" cap="none" strike="noStrike"/>
          </a:p>
        </p:txBody>
      </p:sp>
      <p:sp>
        <p:nvSpPr>
          <p:cNvPr id="246" name="Google Shape;246;p28"/>
          <p:cNvSpPr/>
          <p:nvPr/>
        </p:nvSpPr>
        <p:spPr>
          <a:xfrm>
            <a:off x="9628823" y="5885498"/>
            <a:ext cx="171342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343</a:t>
            </a:r>
            <a:endParaRPr b="0" i="0" sz="1850" u="none" cap="none" strike="noStrike"/>
          </a:p>
        </p:txBody>
      </p:sp>
      <p:sp>
        <p:nvSpPr>
          <p:cNvPr id="247" name="Google Shape;247;p28"/>
          <p:cNvSpPr/>
          <p:nvPr/>
        </p:nvSpPr>
        <p:spPr>
          <a:xfrm>
            <a:off x="11828502" y="5885498"/>
            <a:ext cx="171723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651</a:t>
            </a:r>
            <a:endParaRPr b="0" i="0" sz="1850" u="none" cap="none" strike="noStrike"/>
          </a:p>
        </p:txBody>
      </p:sp>
      <p:sp>
        <p:nvSpPr>
          <p:cNvPr id="248" name="Google Shape;248;p28"/>
          <p:cNvSpPr/>
          <p:nvPr/>
        </p:nvSpPr>
        <p:spPr>
          <a:xfrm>
            <a:off x="845344" y="6419731"/>
            <a:ext cx="12939713" cy="685443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8"/>
          <p:cNvSpPr/>
          <p:nvPr/>
        </p:nvSpPr>
        <p:spPr>
          <a:xfrm>
            <a:off x="1085017" y="6570940"/>
            <a:ext cx="365819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VINISHA R</a:t>
            </a:r>
            <a:endParaRPr b="0" i="0" sz="1850" u="none" cap="none" strike="noStrike"/>
          </a:p>
        </p:txBody>
      </p:sp>
      <p:sp>
        <p:nvSpPr>
          <p:cNvPr id="250" name="Google Shape;250;p28"/>
          <p:cNvSpPr/>
          <p:nvPr/>
        </p:nvSpPr>
        <p:spPr>
          <a:xfrm>
            <a:off x="5229463" y="6570940"/>
            <a:ext cx="171342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168</a:t>
            </a:r>
            <a:endParaRPr b="0" i="0" sz="1850" u="none" cap="none" strike="noStrike"/>
          </a:p>
        </p:txBody>
      </p:sp>
      <p:sp>
        <p:nvSpPr>
          <p:cNvPr id="251" name="Google Shape;251;p28"/>
          <p:cNvSpPr/>
          <p:nvPr/>
        </p:nvSpPr>
        <p:spPr>
          <a:xfrm>
            <a:off x="7429143" y="6570940"/>
            <a:ext cx="171342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170</a:t>
            </a:r>
            <a:endParaRPr b="0" i="0" sz="1850" u="none" cap="none" strike="noStrike"/>
          </a:p>
        </p:txBody>
      </p:sp>
      <p:sp>
        <p:nvSpPr>
          <p:cNvPr id="252" name="Google Shape;252;p28"/>
          <p:cNvSpPr/>
          <p:nvPr/>
        </p:nvSpPr>
        <p:spPr>
          <a:xfrm>
            <a:off x="9628823" y="6570940"/>
            <a:ext cx="171342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331</a:t>
            </a:r>
            <a:endParaRPr b="0" i="0" sz="1850" u="none" cap="none" strike="noStrike"/>
          </a:p>
        </p:txBody>
      </p:sp>
      <p:sp>
        <p:nvSpPr>
          <p:cNvPr id="253" name="Google Shape;253;p28"/>
          <p:cNvSpPr/>
          <p:nvPr/>
        </p:nvSpPr>
        <p:spPr>
          <a:xfrm>
            <a:off x="11828502" y="6570940"/>
            <a:ext cx="171723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645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9"/>
          <p:cNvSpPr/>
          <p:nvPr/>
        </p:nvSpPr>
        <p:spPr>
          <a:xfrm>
            <a:off x="837724" y="1687473"/>
            <a:ext cx="6031587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4400"/>
              <a:buFont typeface="Lora"/>
              <a:buNone/>
            </a:pPr>
            <a:r>
              <a:rPr b="0" i="0" lang="en-US" sz="440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AIR Group Distribution</a:t>
            </a:r>
            <a:endParaRPr b="0" i="0" sz="4400" u="none" cap="none" strike="noStrike"/>
          </a:p>
        </p:txBody>
      </p:sp>
      <p:sp>
        <p:nvSpPr>
          <p:cNvPr id="260" name="Google Shape;260;p29"/>
          <p:cNvSpPr/>
          <p:nvPr/>
        </p:nvSpPr>
        <p:spPr>
          <a:xfrm>
            <a:off x="837724" y="2989898"/>
            <a:ext cx="5463778" cy="299204"/>
          </a:xfrm>
          <a:prstGeom prst="roundRect">
            <a:avLst>
              <a:gd fmla="val 12001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1" name="Google Shape;26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724" y="2989898"/>
            <a:ext cx="32742" cy="299204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9"/>
          <p:cNvSpPr/>
          <p:nvPr/>
        </p:nvSpPr>
        <p:spPr>
          <a:xfrm>
            <a:off x="6480929" y="2989898"/>
            <a:ext cx="684609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350"/>
              <a:buFont typeface="Lora"/>
              <a:buNone/>
            </a:pPr>
            <a:r>
              <a:rPr b="0" i="0" lang="en-US" sz="23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0.6%</a:t>
            </a:r>
            <a:endParaRPr b="0" i="0" sz="2350" u="none" cap="none" strike="noStrike"/>
          </a:p>
        </p:txBody>
      </p:sp>
      <p:sp>
        <p:nvSpPr>
          <p:cNvPr id="263" name="Google Shape;263;p29"/>
          <p:cNvSpPr/>
          <p:nvPr/>
        </p:nvSpPr>
        <p:spPr>
          <a:xfrm>
            <a:off x="837724" y="3588187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200"/>
              <a:buFont typeface="Lora"/>
              <a:buNone/>
            </a:pPr>
            <a:r>
              <a:rPr b="0" i="0" lang="en-US" sz="22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Top 1000</a:t>
            </a:r>
            <a:endParaRPr b="0" i="0" sz="2200" u="none" cap="none" strike="noStrike"/>
          </a:p>
        </p:txBody>
      </p:sp>
      <p:sp>
        <p:nvSpPr>
          <p:cNvPr id="264" name="Google Shape;264;p29"/>
          <p:cNvSpPr/>
          <p:nvPr/>
        </p:nvSpPr>
        <p:spPr>
          <a:xfrm>
            <a:off x="837724" y="4083725"/>
            <a:ext cx="632781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358 students</a:t>
            </a:r>
            <a:endParaRPr b="0" i="0" sz="1850" u="none" cap="none" strike="noStrike"/>
          </a:p>
        </p:txBody>
      </p:sp>
      <p:sp>
        <p:nvSpPr>
          <p:cNvPr id="265" name="Google Shape;265;p29"/>
          <p:cNvSpPr/>
          <p:nvPr/>
        </p:nvSpPr>
        <p:spPr>
          <a:xfrm>
            <a:off x="7464743" y="2989898"/>
            <a:ext cx="5618798" cy="299204"/>
          </a:xfrm>
          <a:prstGeom prst="roundRect">
            <a:avLst>
              <a:gd fmla="val 12001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6" name="Google Shape;26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4743" y="2989898"/>
            <a:ext cx="674251" cy="299204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9"/>
          <p:cNvSpPr/>
          <p:nvPr/>
        </p:nvSpPr>
        <p:spPr>
          <a:xfrm>
            <a:off x="13262967" y="2989898"/>
            <a:ext cx="529709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350"/>
              <a:buFont typeface="Lora"/>
              <a:buNone/>
            </a:pPr>
            <a:r>
              <a:rPr b="0" i="0" lang="en-US" sz="23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12%</a:t>
            </a:r>
            <a:endParaRPr b="0" i="0" sz="2350" u="none" cap="none" strike="noStrike"/>
          </a:p>
        </p:txBody>
      </p:sp>
      <p:sp>
        <p:nvSpPr>
          <p:cNvPr id="268" name="Google Shape;268;p29"/>
          <p:cNvSpPr/>
          <p:nvPr/>
        </p:nvSpPr>
        <p:spPr>
          <a:xfrm>
            <a:off x="7464743" y="3588187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200"/>
              <a:buFont typeface="Lora"/>
              <a:buNone/>
            </a:pPr>
            <a:r>
              <a:rPr b="0" i="0" lang="en-US" sz="22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1001-5000</a:t>
            </a:r>
            <a:endParaRPr b="0" i="0" sz="2200" u="none" cap="none" strike="noStrike"/>
          </a:p>
        </p:txBody>
      </p:sp>
      <p:sp>
        <p:nvSpPr>
          <p:cNvPr id="269" name="Google Shape;269;p29"/>
          <p:cNvSpPr/>
          <p:nvPr/>
        </p:nvSpPr>
        <p:spPr>
          <a:xfrm>
            <a:off x="7464743" y="4083725"/>
            <a:ext cx="6327934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12 students</a:t>
            </a:r>
            <a:endParaRPr b="0" i="0" sz="1850" u="none" cap="none" strike="noStrike"/>
          </a:p>
        </p:txBody>
      </p:sp>
      <p:sp>
        <p:nvSpPr>
          <p:cNvPr id="270" name="Google Shape;270;p29"/>
          <p:cNvSpPr/>
          <p:nvPr/>
        </p:nvSpPr>
        <p:spPr>
          <a:xfrm>
            <a:off x="837724" y="5065157"/>
            <a:ext cx="5720001" cy="299204"/>
          </a:xfrm>
          <a:prstGeom prst="roundRect">
            <a:avLst>
              <a:gd fmla="val 12001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1" name="Google Shape;271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7724" y="5065157"/>
            <a:ext cx="457557" cy="299204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9"/>
          <p:cNvSpPr/>
          <p:nvPr/>
        </p:nvSpPr>
        <p:spPr>
          <a:xfrm>
            <a:off x="6737152" y="5065157"/>
            <a:ext cx="428387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350"/>
              <a:buFont typeface="Lora"/>
              <a:buNone/>
            </a:pPr>
            <a:r>
              <a:rPr b="0" i="0" lang="en-US" sz="23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8%</a:t>
            </a:r>
            <a:endParaRPr b="0" i="0" sz="2350" u="none" cap="none" strike="noStrike"/>
          </a:p>
        </p:txBody>
      </p:sp>
      <p:sp>
        <p:nvSpPr>
          <p:cNvPr id="273" name="Google Shape;273;p29"/>
          <p:cNvSpPr/>
          <p:nvPr/>
        </p:nvSpPr>
        <p:spPr>
          <a:xfrm>
            <a:off x="837724" y="5663446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200"/>
              <a:buFont typeface="Lora"/>
              <a:buNone/>
            </a:pPr>
            <a:r>
              <a:rPr b="0" i="0" lang="en-US" sz="22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5001-10000</a:t>
            </a:r>
            <a:endParaRPr b="0" i="0" sz="2200" u="none" cap="none" strike="noStrike"/>
          </a:p>
        </p:txBody>
      </p:sp>
      <p:sp>
        <p:nvSpPr>
          <p:cNvPr id="274" name="Google Shape;274;p29"/>
          <p:cNvSpPr/>
          <p:nvPr/>
        </p:nvSpPr>
        <p:spPr>
          <a:xfrm>
            <a:off x="837724" y="6158984"/>
            <a:ext cx="632781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8 students</a:t>
            </a:r>
            <a:endParaRPr b="0" i="0" sz="1850" u="none" cap="none" strike="noStrike"/>
          </a:p>
        </p:txBody>
      </p:sp>
      <p:sp>
        <p:nvSpPr>
          <p:cNvPr id="275" name="Google Shape;275;p29"/>
          <p:cNvSpPr/>
          <p:nvPr/>
        </p:nvSpPr>
        <p:spPr>
          <a:xfrm>
            <a:off x="7464743" y="5065157"/>
            <a:ext cx="5727621" cy="299204"/>
          </a:xfrm>
          <a:prstGeom prst="roundRect">
            <a:avLst>
              <a:gd fmla="val 12001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6" name="Google Shape;276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64743" y="5065157"/>
            <a:ext cx="114538" cy="299204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9"/>
          <p:cNvSpPr/>
          <p:nvPr/>
        </p:nvSpPr>
        <p:spPr>
          <a:xfrm>
            <a:off x="13371790" y="5065157"/>
            <a:ext cx="420886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350"/>
              <a:buFont typeface="Lora"/>
              <a:buNone/>
            </a:pPr>
            <a:r>
              <a:rPr b="0" i="0" lang="en-US" sz="23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2%</a:t>
            </a:r>
            <a:endParaRPr b="0" i="0" sz="2350" u="none" cap="none" strike="noStrike"/>
          </a:p>
        </p:txBody>
      </p:sp>
      <p:sp>
        <p:nvSpPr>
          <p:cNvPr id="278" name="Google Shape;278;p29"/>
          <p:cNvSpPr/>
          <p:nvPr/>
        </p:nvSpPr>
        <p:spPr>
          <a:xfrm>
            <a:off x="7464743" y="5663446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200"/>
              <a:buFont typeface="Lora"/>
              <a:buNone/>
            </a:pPr>
            <a:r>
              <a:rPr b="0" i="0" lang="en-US" sz="22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Above 10000</a:t>
            </a:r>
            <a:endParaRPr b="0" i="0" sz="2200" u="none" cap="none" strike="noStrike"/>
          </a:p>
        </p:txBody>
      </p:sp>
      <p:sp>
        <p:nvSpPr>
          <p:cNvPr id="279" name="Google Shape;279;p29"/>
          <p:cNvSpPr/>
          <p:nvPr/>
        </p:nvSpPr>
        <p:spPr>
          <a:xfrm>
            <a:off x="7464743" y="6158984"/>
            <a:ext cx="6327934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2 students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0"/>
          <p:cNvSpPr/>
          <p:nvPr/>
        </p:nvSpPr>
        <p:spPr>
          <a:xfrm>
            <a:off x="837724" y="2479834"/>
            <a:ext cx="6921937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4400"/>
              <a:buFont typeface="Lora"/>
              <a:buNone/>
            </a:pPr>
            <a:r>
              <a:rPr b="0" i="0" lang="en-US" sz="440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Subject-wise Performance</a:t>
            </a:r>
            <a:endParaRPr b="0" i="0" sz="4400" u="none" cap="none" strike="noStrike"/>
          </a:p>
        </p:txBody>
      </p:sp>
      <p:sp>
        <p:nvSpPr>
          <p:cNvPr id="286" name="Google Shape;286;p30"/>
          <p:cNvSpPr/>
          <p:nvPr/>
        </p:nvSpPr>
        <p:spPr>
          <a:xfrm>
            <a:off x="837724" y="3782258"/>
            <a:ext cx="4118848" cy="789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6200"/>
              <a:buFont typeface="Lora"/>
              <a:buNone/>
            </a:pPr>
            <a:r>
              <a:rPr b="0" i="0" lang="en-US" sz="62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180</a:t>
            </a:r>
            <a:endParaRPr b="0" i="0" sz="6200" u="none" cap="none" strike="noStrike"/>
          </a:p>
        </p:txBody>
      </p:sp>
      <p:sp>
        <p:nvSpPr>
          <p:cNvPr id="287" name="Google Shape;287;p30"/>
          <p:cNvSpPr/>
          <p:nvPr/>
        </p:nvSpPr>
        <p:spPr>
          <a:xfrm>
            <a:off x="1488996" y="4871204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200"/>
              <a:buFont typeface="Lora"/>
              <a:buNone/>
            </a:pPr>
            <a:r>
              <a:rPr b="0" i="0" lang="en-US" sz="22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Maximum Physics</a:t>
            </a:r>
            <a:endParaRPr b="0" i="0" sz="2200" u="none" cap="none" strike="noStrike"/>
          </a:p>
        </p:txBody>
      </p:sp>
      <p:sp>
        <p:nvSpPr>
          <p:cNvPr id="288" name="Google Shape;288;p30"/>
          <p:cNvSpPr/>
          <p:nvPr/>
        </p:nvSpPr>
        <p:spPr>
          <a:xfrm>
            <a:off x="837724" y="5366742"/>
            <a:ext cx="411884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Highest score achieved</a:t>
            </a:r>
            <a:endParaRPr b="0" i="0" sz="1850" u="none" cap="none" strike="noStrike"/>
          </a:p>
        </p:txBody>
      </p:sp>
      <p:sp>
        <p:nvSpPr>
          <p:cNvPr id="289" name="Google Shape;289;p30"/>
          <p:cNvSpPr/>
          <p:nvPr/>
        </p:nvSpPr>
        <p:spPr>
          <a:xfrm>
            <a:off x="5255776" y="3782258"/>
            <a:ext cx="4118848" cy="789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6200"/>
              <a:buFont typeface="Lora"/>
              <a:buNone/>
            </a:pPr>
            <a:r>
              <a:rPr b="0" i="0" lang="en-US" sz="62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180</a:t>
            </a:r>
            <a:endParaRPr b="0" i="0" sz="6200" u="none" cap="none" strike="noStrike"/>
          </a:p>
        </p:txBody>
      </p:sp>
      <p:sp>
        <p:nvSpPr>
          <p:cNvPr id="290" name="Google Shape;290;p30"/>
          <p:cNvSpPr/>
          <p:nvPr/>
        </p:nvSpPr>
        <p:spPr>
          <a:xfrm>
            <a:off x="5907048" y="4871204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200"/>
              <a:buFont typeface="Lora"/>
              <a:buNone/>
            </a:pPr>
            <a:r>
              <a:rPr b="0" i="0" lang="en-US" sz="22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Maximum Chemistry</a:t>
            </a:r>
            <a:endParaRPr b="0" i="0" sz="2200" u="none" cap="none" strike="noStrike"/>
          </a:p>
        </p:txBody>
      </p:sp>
      <p:sp>
        <p:nvSpPr>
          <p:cNvPr id="291" name="Google Shape;291;p30"/>
          <p:cNvSpPr/>
          <p:nvPr/>
        </p:nvSpPr>
        <p:spPr>
          <a:xfrm>
            <a:off x="5255776" y="5366742"/>
            <a:ext cx="411884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Highest score achieved</a:t>
            </a:r>
            <a:endParaRPr b="0" i="0" sz="1850" u="none" cap="none" strike="noStrike"/>
          </a:p>
        </p:txBody>
      </p:sp>
      <p:sp>
        <p:nvSpPr>
          <p:cNvPr id="292" name="Google Shape;292;p30"/>
          <p:cNvSpPr/>
          <p:nvPr/>
        </p:nvSpPr>
        <p:spPr>
          <a:xfrm>
            <a:off x="9673828" y="3782258"/>
            <a:ext cx="4118848" cy="789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6200"/>
              <a:buFont typeface="Lora"/>
              <a:buNone/>
            </a:pPr>
            <a:r>
              <a:rPr b="0" i="0" lang="en-US" sz="62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360</a:t>
            </a:r>
            <a:endParaRPr b="0" i="0" sz="6200" u="none" cap="none" strike="noStrike"/>
          </a:p>
        </p:txBody>
      </p:sp>
      <p:sp>
        <p:nvSpPr>
          <p:cNvPr id="293" name="Google Shape;293;p30"/>
          <p:cNvSpPr/>
          <p:nvPr/>
        </p:nvSpPr>
        <p:spPr>
          <a:xfrm>
            <a:off x="10325100" y="4871204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200"/>
              <a:buFont typeface="Lora"/>
              <a:buNone/>
            </a:pPr>
            <a:r>
              <a:rPr b="0" i="0" lang="en-US" sz="22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Maximum Biology</a:t>
            </a:r>
            <a:endParaRPr b="0" i="0" sz="2200" u="none" cap="none" strike="noStrike"/>
          </a:p>
        </p:txBody>
      </p:sp>
      <p:sp>
        <p:nvSpPr>
          <p:cNvPr id="294" name="Google Shape;294;p30"/>
          <p:cNvSpPr/>
          <p:nvPr/>
        </p:nvSpPr>
        <p:spPr>
          <a:xfrm>
            <a:off x="9673828" y="5366742"/>
            <a:ext cx="411884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Highest score achieved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1"/>
          <p:cNvSpPr/>
          <p:nvPr/>
        </p:nvSpPr>
        <p:spPr>
          <a:xfrm>
            <a:off x="837724" y="2725102"/>
            <a:ext cx="7785259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4400"/>
              <a:buFont typeface="Lora"/>
              <a:buNone/>
            </a:pPr>
            <a:r>
              <a:rPr b="0" i="0" lang="en-US" sz="440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Study Hours vs Biology Marks</a:t>
            </a:r>
            <a:endParaRPr b="0" i="0" sz="4400" u="none" cap="none" strike="noStrike"/>
          </a:p>
        </p:txBody>
      </p:sp>
      <p:sp>
        <p:nvSpPr>
          <p:cNvPr id="301" name="Google Shape;301;p31"/>
          <p:cNvSpPr/>
          <p:nvPr/>
        </p:nvSpPr>
        <p:spPr>
          <a:xfrm>
            <a:off x="837724" y="4027527"/>
            <a:ext cx="3640217" cy="299204"/>
          </a:xfrm>
          <a:prstGeom prst="roundRect">
            <a:avLst>
              <a:gd fmla="val 12001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2" name="Google Shape;30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724" y="4027527"/>
            <a:ext cx="327541" cy="299204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1"/>
          <p:cNvSpPr/>
          <p:nvPr/>
        </p:nvSpPr>
        <p:spPr>
          <a:xfrm>
            <a:off x="4657368" y="4027527"/>
            <a:ext cx="299204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350"/>
              <a:buFont typeface="Lora"/>
              <a:buNone/>
            </a:pPr>
            <a:r>
              <a:rPr b="0" i="0" lang="en-US" sz="23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9</a:t>
            </a:r>
            <a:endParaRPr b="0" i="0" sz="2350" u="none" cap="none" strike="noStrike"/>
          </a:p>
        </p:txBody>
      </p:sp>
      <p:sp>
        <p:nvSpPr>
          <p:cNvPr id="304" name="Google Shape;304;p31"/>
          <p:cNvSpPr/>
          <p:nvPr/>
        </p:nvSpPr>
        <p:spPr>
          <a:xfrm>
            <a:off x="837724" y="4625816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200"/>
              <a:buFont typeface="Lora"/>
              <a:buNone/>
            </a:pPr>
            <a:r>
              <a:rPr b="0" i="0" lang="en-US" sz="22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Average Study Hours</a:t>
            </a:r>
            <a:endParaRPr b="0" i="0" sz="2200" u="none" cap="none" strike="noStrike"/>
          </a:p>
        </p:txBody>
      </p:sp>
      <p:sp>
        <p:nvSpPr>
          <p:cNvPr id="305" name="Google Shape;305;p31"/>
          <p:cNvSpPr/>
          <p:nvPr/>
        </p:nvSpPr>
        <p:spPr>
          <a:xfrm>
            <a:off x="837724" y="5121354"/>
            <a:ext cx="411884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Per day</a:t>
            </a:r>
            <a:endParaRPr b="0" i="0" sz="1850" u="none" cap="none" strike="noStrike"/>
          </a:p>
        </p:txBody>
      </p:sp>
      <p:sp>
        <p:nvSpPr>
          <p:cNvPr id="306" name="Google Shape;306;p31"/>
          <p:cNvSpPr/>
          <p:nvPr/>
        </p:nvSpPr>
        <p:spPr>
          <a:xfrm>
            <a:off x="5255776" y="4027527"/>
            <a:ext cx="3414117" cy="299204"/>
          </a:xfrm>
          <a:prstGeom prst="roundRect">
            <a:avLst>
              <a:gd fmla="val 12001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7" name="Google Shape;30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5776" y="4027527"/>
            <a:ext cx="3414117" cy="299204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1"/>
          <p:cNvSpPr/>
          <p:nvPr/>
        </p:nvSpPr>
        <p:spPr>
          <a:xfrm>
            <a:off x="8849320" y="4027527"/>
            <a:ext cx="525304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350"/>
              <a:buFont typeface="Lora"/>
              <a:buNone/>
            </a:pPr>
            <a:r>
              <a:rPr b="0" i="0" lang="en-US" sz="23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360</a:t>
            </a:r>
            <a:endParaRPr b="0" i="0" sz="2350" u="none" cap="none" strike="noStrike"/>
          </a:p>
        </p:txBody>
      </p:sp>
      <p:sp>
        <p:nvSpPr>
          <p:cNvPr id="309" name="Google Shape;309;p31"/>
          <p:cNvSpPr/>
          <p:nvPr/>
        </p:nvSpPr>
        <p:spPr>
          <a:xfrm>
            <a:off x="5255776" y="4625816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200"/>
              <a:buFont typeface="Lora"/>
              <a:buNone/>
            </a:pPr>
            <a:r>
              <a:rPr b="0" i="0" lang="en-US" sz="22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Maximum Biology</a:t>
            </a:r>
            <a:endParaRPr b="0" i="0" sz="2200" u="none" cap="none" strike="noStrike"/>
          </a:p>
        </p:txBody>
      </p:sp>
      <p:sp>
        <p:nvSpPr>
          <p:cNvPr id="310" name="Google Shape;310;p31"/>
          <p:cNvSpPr/>
          <p:nvPr/>
        </p:nvSpPr>
        <p:spPr>
          <a:xfrm>
            <a:off x="5255776" y="5121354"/>
            <a:ext cx="411884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Score achieved</a:t>
            </a:r>
            <a:endParaRPr b="0" i="0" sz="1850" u="none" cap="none" strike="noStrike"/>
          </a:p>
        </p:txBody>
      </p:sp>
      <p:sp>
        <p:nvSpPr>
          <p:cNvPr id="311" name="Google Shape;311;p31"/>
          <p:cNvSpPr/>
          <p:nvPr/>
        </p:nvSpPr>
        <p:spPr>
          <a:xfrm>
            <a:off x="9673828" y="4027527"/>
            <a:ext cx="3401258" cy="299204"/>
          </a:xfrm>
          <a:prstGeom prst="roundRect">
            <a:avLst>
              <a:gd fmla="val 12001" name="adj"/>
            </a:avLst>
          </a:prstGeom>
          <a:solidFill>
            <a:srgbClr val="444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2" name="Google Shape;31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73828" y="4027527"/>
            <a:ext cx="3401258" cy="299204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13254514" y="4027527"/>
            <a:ext cx="538163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350"/>
              <a:buFont typeface="Lora"/>
              <a:buNone/>
            </a:pPr>
            <a:r>
              <a:rPr b="0" i="0" lang="en-US" sz="235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300</a:t>
            </a:r>
            <a:endParaRPr b="0" i="0" sz="2350" u="none" cap="none" strike="noStrike"/>
          </a:p>
        </p:txBody>
      </p:sp>
      <p:sp>
        <p:nvSpPr>
          <p:cNvPr id="314" name="Google Shape;314;p31"/>
          <p:cNvSpPr/>
          <p:nvPr/>
        </p:nvSpPr>
        <p:spPr>
          <a:xfrm>
            <a:off x="9673828" y="4625816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200"/>
              <a:buFont typeface="Lora"/>
              <a:buNone/>
            </a:pPr>
            <a:r>
              <a:rPr b="0" i="0" lang="en-US" sz="2200" u="none" cap="none" strike="noStrike">
                <a:solidFill>
                  <a:srgbClr val="D6E5EF"/>
                </a:solidFill>
                <a:latin typeface="Lora"/>
                <a:ea typeface="Lora"/>
                <a:cs typeface="Lora"/>
                <a:sym typeface="Lora"/>
              </a:rPr>
              <a:t>Average Biology</a:t>
            </a:r>
            <a:endParaRPr b="0" i="0" sz="2200" u="none" cap="none" strike="noStrike"/>
          </a:p>
        </p:txBody>
      </p:sp>
      <p:sp>
        <p:nvSpPr>
          <p:cNvPr id="315" name="Google Shape;315;p31"/>
          <p:cNvSpPr/>
          <p:nvPr/>
        </p:nvSpPr>
        <p:spPr>
          <a:xfrm>
            <a:off x="9673828" y="5121354"/>
            <a:ext cx="4118848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Score obtained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2"/>
          <p:cNvSpPr/>
          <p:nvPr/>
        </p:nvSpPr>
        <p:spPr>
          <a:xfrm>
            <a:off x="2025610" y="1698069"/>
            <a:ext cx="5022294" cy="478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3000"/>
              <a:buFont typeface="Lora"/>
              <a:buNone/>
            </a:pPr>
            <a:r>
              <a:rPr b="0" i="0" lang="en-US" sz="300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Strategic Recommendations</a:t>
            </a:r>
            <a:endParaRPr b="0" i="0" sz="3000" u="none" cap="none" strike="noStrike"/>
          </a:p>
        </p:txBody>
      </p:sp>
      <p:sp>
        <p:nvSpPr>
          <p:cNvPr id="322" name="Google Shape;322;p32"/>
          <p:cNvSpPr/>
          <p:nvPr/>
        </p:nvSpPr>
        <p:spPr>
          <a:xfrm>
            <a:off x="2025610" y="2287905"/>
            <a:ext cx="6298287" cy="218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250"/>
              <a:buFont typeface="Source Sans 3"/>
              <a:buNone/>
            </a:pPr>
            <a:r>
              <a:rPr b="0" i="0" lang="en-US" sz="12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Based on survey , the following strategies can improve student outcomes:</a:t>
            </a:r>
            <a:endParaRPr b="0" i="0" sz="1250" u="none" cap="none" strike="noStrike"/>
          </a:p>
        </p:txBody>
      </p:sp>
      <p:sp>
        <p:nvSpPr>
          <p:cNvPr id="323" name="Google Shape;323;p32"/>
          <p:cNvSpPr/>
          <p:nvPr/>
        </p:nvSpPr>
        <p:spPr>
          <a:xfrm>
            <a:off x="2025610" y="2631519"/>
            <a:ext cx="6298287" cy="3567351"/>
          </a:xfrm>
          <a:prstGeom prst="roundRect">
            <a:avLst>
              <a:gd fmla="val 685" name="adj"/>
            </a:avLst>
          </a:prstGeom>
          <a:noFill/>
          <a:ln cap="flat" cmpd="sng" w="9525">
            <a:solidFill>
              <a:srgbClr val="FFFFFF">
                <a:alpha val="2392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2"/>
          <p:cNvSpPr/>
          <p:nvPr/>
        </p:nvSpPr>
        <p:spPr>
          <a:xfrm>
            <a:off x="2033230" y="2639139"/>
            <a:ext cx="6283047" cy="36707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2"/>
          <p:cNvSpPr/>
          <p:nvPr/>
        </p:nvSpPr>
        <p:spPr>
          <a:xfrm>
            <a:off x="2196227" y="2713196"/>
            <a:ext cx="2811899" cy="218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250"/>
              <a:buFont typeface="Source Sans 3"/>
              <a:buNone/>
            </a:pPr>
            <a:r>
              <a:rPr b="1" i="0" lang="en-US" sz="12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Improve Physics Performance</a:t>
            </a:r>
            <a:endParaRPr b="0" i="0" sz="1250" u="none" cap="none" strike="noStrike"/>
          </a:p>
        </p:txBody>
      </p:sp>
      <p:sp>
        <p:nvSpPr>
          <p:cNvPr id="326" name="Google Shape;326;p32"/>
          <p:cNvSpPr/>
          <p:nvPr/>
        </p:nvSpPr>
        <p:spPr>
          <a:xfrm>
            <a:off x="5341501" y="2713196"/>
            <a:ext cx="2811899" cy="218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250"/>
              <a:buFont typeface="Source Sans 3"/>
              <a:buNone/>
            </a:pPr>
            <a:r>
              <a:rPr b="1" i="0" lang="en-US" sz="12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Focus on Mid-Score Students</a:t>
            </a:r>
            <a:endParaRPr b="0" i="0" sz="1250" u="none" cap="none" strike="noStrike"/>
          </a:p>
        </p:txBody>
      </p:sp>
      <p:sp>
        <p:nvSpPr>
          <p:cNvPr id="327" name="Google Shape;327;p32"/>
          <p:cNvSpPr/>
          <p:nvPr/>
        </p:nvSpPr>
        <p:spPr>
          <a:xfrm>
            <a:off x="2033230" y="3006209"/>
            <a:ext cx="6283047" cy="2012990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2"/>
          <p:cNvSpPr/>
          <p:nvPr/>
        </p:nvSpPr>
        <p:spPr>
          <a:xfrm>
            <a:off x="2196227" y="3080266"/>
            <a:ext cx="2811899" cy="218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250"/>
              <a:buFont typeface="Source Sans 3"/>
              <a:buNone/>
            </a:pPr>
            <a:r>
              <a:rPr b="0" i="0" lang="en-US" sz="12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Coaching institutes should focus on:</a:t>
            </a:r>
            <a:endParaRPr b="0" i="0" sz="1250" u="none" cap="none" strike="noStrike"/>
          </a:p>
        </p:txBody>
      </p:sp>
      <p:sp>
        <p:nvSpPr>
          <p:cNvPr id="329" name="Google Shape;329;p32"/>
          <p:cNvSpPr/>
          <p:nvPr/>
        </p:nvSpPr>
        <p:spPr>
          <a:xfrm>
            <a:off x="2196227" y="3365659"/>
            <a:ext cx="2811899" cy="218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250"/>
              <a:buFont typeface="Source Sans 3"/>
              <a:buNone/>
            </a:pPr>
            <a:r>
              <a:rPr b="0" i="0" lang="en-US" sz="12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1)Concept-based problem solving</a:t>
            </a:r>
            <a:endParaRPr b="0" i="0" sz="1250" u="none" cap="none" strike="noStrike"/>
          </a:p>
        </p:txBody>
      </p:sp>
      <p:sp>
        <p:nvSpPr>
          <p:cNvPr id="330" name="Google Shape;330;p32"/>
          <p:cNvSpPr/>
          <p:nvPr/>
        </p:nvSpPr>
        <p:spPr>
          <a:xfrm>
            <a:off x="2196227" y="3651052"/>
            <a:ext cx="2811899" cy="218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250"/>
              <a:buFont typeface="Source Sans 3"/>
              <a:buNone/>
            </a:pPr>
            <a:r>
              <a:rPr b="0" i="0" lang="en-US" sz="12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2)Regular mock tests</a:t>
            </a:r>
            <a:endParaRPr b="0" i="0" sz="1250" u="none" cap="none" strike="noStrike"/>
          </a:p>
        </p:txBody>
      </p:sp>
      <p:sp>
        <p:nvSpPr>
          <p:cNvPr id="331" name="Google Shape;331;p32"/>
          <p:cNvSpPr/>
          <p:nvPr/>
        </p:nvSpPr>
        <p:spPr>
          <a:xfrm>
            <a:off x="2196227" y="3936444"/>
            <a:ext cx="2811899" cy="437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250"/>
              <a:buFont typeface="Source Sans 3"/>
              <a:buNone/>
            </a:pPr>
            <a:r>
              <a:rPr b="0" i="0" lang="en-US" sz="12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3)Targeted practice for difficult physics topics</a:t>
            </a:r>
            <a:endParaRPr b="0" i="0" sz="1250" u="none" cap="none" strike="noStrike"/>
          </a:p>
        </p:txBody>
      </p:sp>
      <p:sp>
        <p:nvSpPr>
          <p:cNvPr id="332" name="Google Shape;332;p32"/>
          <p:cNvSpPr/>
          <p:nvPr/>
        </p:nvSpPr>
        <p:spPr>
          <a:xfrm>
            <a:off x="2196227" y="4440793"/>
            <a:ext cx="2811899" cy="218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SzPts val="1250"/>
              <a:buFont typeface="Arial"/>
              <a:buNone/>
            </a:pPr>
            <a:r>
              <a:t/>
            </a:r>
            <a:endParaRPr b="0" i="0" sz="1250" u="none" cap="none" strike="noStrike"/>
          </a:p>
        </p:txBody>
      </p:sp>
      <p:sp>
        <p:nvSpPr>
          <p:cNvPr id="333" name="Google Shape;333;p32"/>
          <p:cNvSpPr/>
          <p:nvPr/>
        </p:nvSpPr>
        <p:spPr>
          <a:xfrm>
            <a:off x="2196227" y="4726186"/>
            <a:ext cx="2811899" cy="218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SzPts val="1250"/>
              <a:buFont typeface="Arial"/>
              <a:buNone/>
            </a:pPr>
            <a:r>
              <a:t/>
            </a:r>
            <a:endParaRPr b="0" i="0" sz="1250" u="none" cap="none" strike="noStrike"/>
          </a:p>
        </p:txBody>
      </p:sp>
      <p:sp>
        <p:nvSpPr>
          <p:cNvPr id="334" name="Google Shape;334;p32"/>
          <p:cNvSpPr/>
          <p:nvPr/>
        </p:nvSpPr>
        <p:spPr>
          <a:xfrm>
            <a:off x="5341501" y="3080266"/>
            <a:ext cx="2811899" cy="875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250"/>
              <a:buFont typeface="Source Sans 3"/>
              <a:buNone/>
            </a:pPr>
            <a:r>
              <a:rPr b="0" i="0" lang="en-US" sz="12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students scoring 500-600 marks are very close to government eligibility. Focuses mentoring and additional revision could significantly improve their chances.</a:t>
            </a:r>
            <a:endParaRPr b="0" i="0" sz="1250" u="none" cap="none" strike="noStrike"/>
          </a:p>
        </p:txBody>
      </p:sp>
      <p:sp>
        <p:nvSpPr>
          <p:cNvPr id="335" name="Google Shape;335;p32"/>
          <p:cNvSpPr/>
          <p:nvPr/>
        </p:nvSpPr>
        <p:spPr>
          <a:xfrm>
            <a:off x="2033230" y="5019199"/>
            <a:ext cx="6283047" cy="36707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2"/>
          <p:cNvSpPr/>
          <p:nvPr/>
        </p:nvSpPr>
        <p:spPr>
          <a:xfrm>
            <a:off x="2196227" y="5093256"/>
            <a:ext cx="2811899" cy="218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250"/>
              <a:buFont typeface="Source Sans 3"/>
              <a:buNone/>
            </a:pPr>
            <a:r>
              <a:rPr b="1" i="0" lang="en-US" sz="12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Personalized Learning Plans</a:t>
            </a:r>
            <a:endParaRPr b="0" i="0" sz="1250" u="none" cap="none" strike="noStrike"/>
          </a:p>
        </p:txBody>
      </p:sp>
      <p:sp>
        <p:nvSpPr>
          <p:cNvPr id="337" name="Google Shape;337;p32"/>
          <p:cNvSpPr/>
          <p:nvPr/>
        </p:nvSpPr>
        <p:spPr>
          <a:xfrm>
            <a:off x="5341501" y="5093256"/>
            <a:ext cx="2811899" cy="218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250"/>
              <a:buFont typeface="Source Sans 3"/>
              <a:buNone/>
            </a:pPr>
            <a:r>
              <a:rPr b="1" i="0" lang="en-US" sz="12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Data-Driven Academic Monitoring</a:t>
            </a:r>
            <a:endParaRPr b="0" i="0" sz="1250" u="none" cap="none" strike="noStrike"/>
          </a:p>
        </p:txBody>
      </p:sp>
      <p:sp>
        <p:nvSpPr>
          <p:cNvPr id="338" name="Google Shape;338;p32"/>
          <p:cNvSpPr/>
          <p:nvPr/>
        </p:nvSpPr>
        <p:spPr>
          <a:xfrm>
            <a:off x="2033230" y="5386268"/>
            <a:ext cx="6283047" cy="804982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2"/>
          <p:cNvSpPr/>
          <p:nvPr/>
        </p:nvSpPr>
        <p:spPr>
          <a:xfrm>
            <a:off x="2196227" y="5460325"/>
            <a:ext cx="2811899" cy="6568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250"/>
              <a:buFont typeface="Source Sans 3"/>
              <a:buNone/>
            </a:pPr>
            <a:r>
              <a:rPr b="0" i="0" lang="en-US" sz="12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Use performance data to create individual study strategies based on subject weaknesses.</a:t>
            </a:r>
            <a:endParaRPr b="0" i="0" sz="1250" u="none" cap="none" strike="noStrike"/>
          </a:p>
        </p:txBody>
      </p:sp>
      <p:sp>
        <p:nvSpPr>
          <p:cNvPr id="340" name="Google Shape;340;p32"/>
          <p:cNvSpPr/>
          <p:nvPr/>
        </p:nvSpPr>
        <p:spPr>
          <a:xfrm>
            <a:off x="5341501" y="5460325"/>
            <a:ext cx="2811899" cy="6568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250"/>
              <a:buFont typeface="Source Sans 3"/>
              <a:buNone/>
            </a:pPr>
            <a:r>
              <a:rPr b="0" i="0" lang="en-US" sz="12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Institutes should use analytics dashboards to track students progress and predict eligibility outcomes.</a:t>
            </a:r>
            <a:endParaRPr b="0" i="0" sz="1250" u="none" cap="none" strike="noStrike"/>
          </a:p>
        </p:txBody>
      </p:sp>
      <p:sp>
        <p:nvSpPr>
          <p:cNvPr id="341" name="Google Shape;341;p32"/>
          <p:cNvSpPr/>
          <p:nvPr/>
        </p:nvSpPr>
        <p:spPr>
          <a:xfrm>
            <a:off x="2025610" y="6323528"/>
            <a:ext cx="6298287" cy="218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SzPts val="1250"/>
              <a:buFont typeface="Arial"/>
              <a:buNone/>
            </a:pPr>
            <a:r>
              <a:t/>
            </a:r>
            <a:endParaRPr b="0" i="0" sz="1250" u="none" cap="none" strike="noStrike"/>
          </a:p>
        </p:txBody>
      </p:sp>
      <p:pic>
        <p:nvPicPr>
          <p:cNvPr descr="preencoded.png"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8948" y="2517577"/>
            <a:ext cx="3194209" cy="3194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3"/>
          <p:cNvSpPr/>
          <p:nvPr/>
        </p:nvSpPr>
        <p:spPr>
          <a:xfrm>
            <a:off x="837724" y="2595920"/>
            <a:ext cx="5632490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4400"/>
              <a:buFont typeface="Lora"/>
              <a:buNone/>
            </a:pPr>
            <a:r>
              <a:rPr b="0" i="0" lang="en-US" sz="440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Future Endeavors</a:t>
            </a:r>
            <a:endParaRPr b="0" i="0" sz="4400" u="none" cap="none" strike="noStrike"/>
          </a:p>
        </p:txBody>
      </p:sp>
      <p:sp>
        <p:nvSpPr>
          <p:cNvPr id="349" name="Google Shape;349;p33"/>
          <p:cNvSpPr/>
          <p:nvPr/>
        </p:nvSpPr>
        <p:spPr>
          <a:xfrm>
            <a:off x="837724" y="3539252"/>
            <a:ext cx="6185535" cy="2249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Char char="•"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Year-wise NEET performance comparison</a:t>
            </a:r>
            <a:endParaRPr b="0" i="0" sz="1850" u="none" cap="none" strike="noStrike"/>
          </a:p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Char char="•"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Study hours vs Score efficiency analysis</a:t>
            </a:r>
            <a:endParaRPr b="0" i="0" sz="1850" u="none" cap="none" strike="noStrike"/>
          </a:p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Char char="•"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Predictive modeling for government eligibility</a:t>
            </a:r>
            <a:endParaRPr b="0" i="0" sz="1850" u="none" cap="none" strike="noStrike"/>
          </a:p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Char char="•"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Student demographic analysis(age,gender,region)</a:t>
            </a:r>
            <a:endParaRPr b="0" i="0" sz="1850" u="none" cap="none" strike="noStrike"/>
          </a:p>
          <a:p>
            <a:pPr indent="-342900" lvl="0" marL="34290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50"/>
              <a:buFont typeface="Source Sans 3"/>
              <a:buChar char="•"/>
            </a:pPr>
            <a:r>
              <a:rPr b="0" i="0" lang="en-US" sz="1850" u="none" cap="none" strike="noStrike">
                <a:solidFill>
                  <a:srgbClr val="D6E5EF"/>
                </a:solidFill>
                <a:latin typeface="Source Sans 3"/>
                <a:ea typeface="Source Sans 3"/>
                <a:cs typeface="Source Sans 3"/>
                <a:sym typeface="Source Sans 3"/>
              </a:rPr>
              <a:t>Performance improvement tracking across mock tests.</a:t>
            </a:r>
            <a:endParaRPr b="0" i="0" sz="1850" u="none" cap="none" strike="noStrike"/>
          </a:p>
        </p:txBody>
      </p:sp>
      <p:pic>
        <p:nvPicPr>
          <p:cNvPr descr="preencoded.png" id="350" name="Google Shape;35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4761" y="1022033"/>
            <a:ext cx="6185535" cy="6185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4"/>
          <p:cNvSpPr/>
          <p:nvPr/>
        </p:nvSpPr>
        <p:spPr>
          <a:xfrm>
            <a:off x="837724" y="3762732"/>
            <a:ext cx="7799903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98AC7"/>
              </a:buClr>
              <a:buSzPts val="4400"/>
              <a:buFont typeface="Lora"/>
              <a:buNone/>
            </a:pPr>
            <a:r>
              <a:rPr b="0" i="0" lang="en-US" sz="4400" u="none" cap="none" strike="noStrike">
                <a:solidFill>
                  <a:srgbClr val="F98AC7"/>
                </a:solidFill>
                <a:latin typeface="Lora"/>
                <a:ea typeface="Lora"/>
                <a:cs typeface="Lora"/>
                <a:sym typeface="Lora"/>
              </a:rPr>
              <a:t>                                  Thank You</a:t>
            </a:r>
            <a:endParaRPr b="0" i="0" sz="44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